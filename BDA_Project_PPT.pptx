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Lst>
  <p:notesMasterIdLst>
    <p:notesMasterId r:id="rId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d1cca37-9e5e-f6f6-e717-2f5bcd0975c5}">
          <p14:sldIdLst>
            <p14:sldId id="256"/>
            <p14:sldId id="257"/>
          </p14:sldIdLst>
        </p14:section>
        <p14:section name="Method" id="{bc27883d-7db9-d0e1-627e-3218d8a9f465}">
          <p14:sldIdLst>
            <p14:sldId id="258"/>
          </p14:sldIdLst>
        </p14:section>
        <p14:section name="Results" id="{0f556bcc-807e-be86-22ac-21dae406f325}">
          <p14:sldIdLst>
            <p14:sldId id="259"/>
            <p14:sldId id="26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notesMaster" Target="notesMasters/notesMaster1.xml"/><Relationship Id="rId8" Type="http://schemas.openxmlformats.org/officeDocument/2006/relationships/presProps" Target="presProps.xml"/><Relationship Id="rId9" Type="http://schemas.openxmlformats.org/officeDocument/2006/relationships/viewProps" Target="viewProps.xml"/><Relationship Id="rId10" Type="http://schemas.openxmlformats.org/officeDocument/2006/relationships/theme" Target="theme/theme1.xml"/><Relationship Id="rId1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3A1F2B"/>
                </a:solidFill>
                <a:latin typeface="+mn-lt"/>
              </a:defRPr>
            </a:pPr>
            <a:r>
              <a:rPr sz="1300" b="0" i="0" u="none" strike="noStrike">
                <a:solidFill>
                  <a:srgbClr val="3A1F2B"/>
                </a:solidFill>
                <a:latin typeface="+mn-lt"/>
              </a:rPr>
              <a:t>Average days a video stays on trending</a:t>
            </a:r>
          </a:p>
        </c:rich>
      </c:tx>
      <c:layout/>
      <c:overlay val="0"/>
    </c:title>
    <c:autoTitleDeleted val="0"/>
    <c:plotArea>
      <c:layout/>
      <c:barChart>
        <c:barDir val="bar"/>
        <c:grouping val="clustered"/>
        <c:varyColors val="0"/>
        <c:ser>
          <c:idx val="0"/>
          <c:order val="0"/>
          <c:tx>
            <c:strRef>
              <c:f>Sheet1!$B$1</c:f>
              <c:strCache>
                <c:ptCount val="1"/>
                <c:pt idx="0">
                  <c:v>Average days on trending</c:v>
                </c:pt>
              </c:strCache>
            </c:strRef>
          </c:tx>
          <c:spPr>
            <a:solidFill>
              <a:srgbClr val="E11D48"/>
            </a:solidFill>
            <a:effectLst/>
          </c:spPr>
          <c:invertIfNegative val="0"/>
          <c:dLbls>
            <c:numFmt formatCode="0.0" sourceLinked="0"/>
            <c:txPr>
              <a:bodyPr/>
              <a:lstStyle/>
              <a:p>
                <a:pPr>
                  <a:defRPr b="0" i="0" strike="noStrike" sz="1100" u="none">
                    <a:solidFill>
                      <a:srgbClr val="3A1F2B"/>
                    </a:solidFill>
                    <a:latin typeface="+mn-lt"/>
                  </a:defRPr>
                </a:pPr>
              </a:p>
            </c:txPr>
            <c:showLegendKey val="0"/>
            <c:showVal val="1"/>
            <c:showCatName val="0"/>
            <c:showSerName val="0"/>
            <c:showPercent val="0"/>
            <c:showBubbleSize val="0"/>
            <c:showLeaderLines val="0"/>
          </c:dLbls>
          <c:cat>
            <c:multiLvlStrRef>
              <c:f>Sheet1!$A$2:$A$5</c:f>
              <c:multiLvlStrCache>
                <c:ptCount val="4"/>
                <c:lvl>
                  <c:pt idx="0">
                    <c:v>India</c:v>
                  </c:pt>
                  <c:pt idx="1">
                    <c:v>USA</c:v>
                  </c:pt>
                  <c:pt idx="2">
                    <c:v>Great Britain</c:v>
                  </c:pt>
                  <c:pt idx="3">
                    <c:v>Canada</c:v>
                  </c:pt>
                </c:lvl>
              </c:multiLvlStrCache>
            </c:multiLvlStrRef>
          </c:cat>
          <c:val>
            <c:numRef>
              <c:f>Sheet1!$B$2:$B$5</c:f>
              <c:numCache>
                <c:formatCode>General</c:formatCode>
                <c:ptCount val="4"/>
                <c:pt idx="0">
                  <c:v>2</c:v>
                </c:pt>
                <c:pt idx="1">
                  <c:v>6.4</c:v>
                </c:pt>
                <c:pt idx="2">
                  <c:v>11.8</c:v>
                </c:pt>
                <c:pt idx="3">
                  <c:v>1.7</c:v>
                </c:pt>
              </c:numCache>
            </c:numRef>
          </c:val>
        </c:ser>
        <c:dLbls>
          <c:numFmt formatCode="0.0" sourceLinked="0"/>
          <c:txPr>
            <a:bodyPr/>
            <a:lstStyle/>
            <a:p>
              <a:pPr>
                <a:defRPr b="0" i="0" strike="noStrike" sz="1100" u="none">
                  <a:solidFill>
                    <a:srgbClr val="3A1F2B"/>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noFill/>
            <a:prstDash val="solid"/>
            <a:round/>
          </a:ln>
        </c:spPr>
        <c:txPr>
          <a:bodyPr/>
          <a:lstStyle/>
          <a:p>
            <a:pPr>
              <a:defRPr sz="1100" b="0" i="0" u="none" strike="noStrike">
                <a:solidFill>
                  <a:srgbClr val="7A5C66"/>
                </a:solidFill>
                <a:latin typeface="+mn-lt"/>
              </a:defRPr>
            </a:pPr>
            <a:endParaRPr lang="en-US"/>
          </a:p>
        </c:txPr>
        <c:crossAx val="2094734552"/>
        <c:crosses val="autoZero"/>
        <c:auto val="1"/>
        <c:lblAlgn val="ctr"/>
        <c:noMultiLvlLbl val="1"/>
      </c:catAx>
      <c:valAx>
        <c:axId val="2094734552"/>
        <c:scaling>
          <c:orientation val="minMax"/>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team and the topic. We analysed YouTube's daily trending lists for four countries. Spark does the processing, Cassandra stores the data and results, and Streamlit shows them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dataset has one CSV file per country plus a JSON file for category names. We used four countries. Dates were in yy.dd.mm format and there were duplicates and broken IDs, so cleaning came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five steps from left to right. Spark writes into Cassandra and reads it back for the analysis. The dashboard only talks to Cassandra. Explain why the partition key is country plus date.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India and Canada have many unique videos that stay one or two days, mostly daily TV episodes and news. Great Britain and the USA have fewer videos that stay much longer. All numbers come from our Spark SQL results stored in Cassandra.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If the Colab session is running, open the live dashboard: change the country, then try the date search. End with the conclusion. Future scope: live data from the YouTube API and a multi-node cluster.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SOF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234440"/>
            <a:ext cx="4480560" cy="118872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ph idx="101" type="body" hasCustomPrompt="1"/>
          </p:nvPr>
        </p:nvSpPr>
        <p:spPr>
          <a:xfrm>
            <a:off x="548640" y="2487168"/>
            <a:ext cx="4480560" cy="411480"/>
          </a:xfrm>
          <a:prstGeom prst="rect">
            <a:avLst/>
          </a:prstGeom>
          <a:noFill/>
          <a:ln/>
        </p:spPr>
        <p:txBody>
          <a:bodyPr wrap="square" rtlCol="0"/>
          <a:lstStyle>
            <a:lvl1pPr algn="l" indent="0" marL="0">
              <a:buNone/>
              <a:defRPr lang="en-US" sz="2000" dirty="0">
                <a:solidFill>
                  <a:schemeClr val="accent1"/>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rtlCol="0"/>
          <a:lstStyle>
            <a:lvl1pPr algn="l" indent="0" marL="0">
              <a:buNone/>
              <a:defRPr lang="en-US" sz="3000" b="1" dirty="0">
                <a:solidFill>
                  <a:schemeClr val="tx1"/>
                </a:solidFill>
              </a:defRPr>
            </a:lvl1pPr>
          </a:lstStyle>
          <a:p>
            <a:pPr algn="l" indent="0" marL="0">
              <a:buNone/>
            </a:pPr>
            <a:endParaRPr lang="en-US" sz="3000" dirty="0"/>
          </a:p>
        </p:txBody>
      </p:sp>
      <p:sp>
        <p:nvSpPr>
          <p:cNvPr id="3" name="Text 0"/>
          <p:cNvSpPr/>
          <p:nvPr/>
        </p:nvSpPr>
        <p:spPr>
          <a:xfrm>
            <a:off x="457200" y="4754880"/>
            <a:ext cx="5943600" cy="274320"/>
          </a:xfrm>
          <a:prstGeom prst="rect">
            <a:avLst/>
          </a:prstGeom>
          <a:noFill/>
          <a:ln/>
        </p:spPr>
        <p:txBody>
          <a:bodyPr wrap="square" lIns="0" tIns="0" rIns="0" bIns="0" rtlCol="0" anchor="ctr"/>
          <a:lstStyle/>
          <a:p>
            <a:pPr indent="0" marL="0">
              <a:buNone/>
            </a:pPr>
            <a:r>
              <a:rPr lang="en-US" sz="1000" dirty="0">
                <a:solidFill>
                  <a:schemeClr val="tx2"/>
                </a:solidFill>
              </a:rPr>
              <a:t>YouTube Trending Videos Analysis  |  BDA Lab, RBU Nagpur</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slideLayout" Target="../slideLayouts/slideLayout2.xml"/><Relationship Id="rId5"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3.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deco circle large"/>
          <p:cNvSpPr/>
          <p:nvPr/>
        </p:nvSpPr>
        <p:spPr>
          <a:xfrm>
            <a:off x="5760720" y="-1097280"/>
            <a:ext cx="4206240" cy="4206240"/>
          </a:xfrm>
          <a:prstGeom prst="ellipse">
            <a:avLst/>
          </a:prstGeom>
          <a:solidFill>
            <a:schemeClr val="accent2">
              <a:alpha val="45000"/>
            </a:schemeClr>
          </a:solidFill>
          <a:ln/>
        </p:spPr>
      </p:sp>
      <p:sp>
        <p:nvSpPr>
          <p:cNvPr id="3" name="deco circle small"/>
          <p:cNvSpPr/>
          <p:nvPr/>
        </p:nvSpPr>
        <p:spPr>
          <a:xfrm>
            <a:off x="7498080" y="3108960"/>
            <a:ext cx="2377440" cy="2377440"/>
          </a:xfrm>
          <a:prstGeom prst="ellipse">
            <a:avLst/>
          </a:prstGeom>
          <a:solidFill>
            <a:schemeClr val="accent1">
              <a:alpha val="30000"/>
            </a:schemeClr>
          </a:solidFill>
          <a:ln/>
        </p:spPr>
      </p:sp>
      <p:sp>
        <p:nvSpPr>
          <p:cNvPr id="4" name="tag pill"/>
          <p:cNvSpPr/>
          <p:nvPr/>
        </p:nvSpPr>
        <p:spPr>
          <a:xfrm>
            <a:off x="548640" y="685800"/>
            <a:ext cx="2331720" cy="347472"/>
          </a:xfrm>
          <a:prstGeom prst="roundRect">
            <a:avLst>
              <a:gd name="adj" fmla="val 50000"/>
            </a:avLst>
          </a:prstGeom>
          <a:solidFill>
            <a:schemeClr val="accent4"/>
          </a:solidFill>
          <a:ln/>
        </p:spPr>
      </p:sp>
      <p:sp>
        <p:nvSpPr>
          <p:cNvPr id="5" name="tag text"/>
          <p:cNvSpPr txBox="1"/>
          <p:nvPr/>
        </p:nvSpPr>
        <p:spPr>
          <a:xfrm>
            <a:off x="548640" y="685800"/>
            <a:ext cx="2331720" cy="347472"/>
          </a:xfrm>
          <a:prstGeom prst="rect">
            <a:avLst/>
          </a:prstGeom>
          <a:noFill/>
          <a:ln/>
        </p:spPr>
        <p:txBody>
          <a:bodyPr wrap="square" lIns="0" tIns="0" rIns="0" bIns="0" rtlCol="0" anchor="ctr"/>
          <a:lstStyle/>
          <a:p>
            <a:pPr algn="ctr" indent="0" marL="0">
              <a:buNone/>
            </a:pPr>
            <a:r>
              <a:rPr lang="en-US" sz="1100" b="1" spc="100" kern="0" dirty="0">
                <a:solidFill>
                  <a:schemeClr val="accent3"/>
                </a:solidFill>
              </a:rPr>
              <a:t>BDA LAB  |  LA2 PROJECT</a:t>
            </a:r>
            <a:endParaRPr lang="en-US" sz="1100" dirty="0"/>
          </a:p>
        </p:txBody>
      </p:sp>
      <p:sp>
        <p:nvSpPr>
          <p:cNvPr id="6" name="Text 0"/>
          <p:cNvSpPr/>
          <p:nvPr>
            <p:ph idx="100" type="title" hasCustomPrompt="1"/>
          </p:nvPr>
        </p:nvSpPr>
        <p:spPr>
          <a:xfrm>
            <a:off x="548640" y="1234440"/>
            <a:ext cx="4480560" cy="1188720"/>
          </a:xfrm>
          <a:prstGeom prst="rect">
            <a:avLst/>
          </a:prstGeom>
          <a:noFill/>
          <a:ln/>
        </p:spPr>
        <p:txBody>
          <a:bodyPr wrap="square" lIns="0" tIns="0" rIns="0" bIns="0" rtlCol="0" anchor="b"/>
          <a:lstStyle/>
          <a:p>
            <a:pPr algn="l" indent="0" marL="0">
              <a:buNone/>
            </a:pPr>
            <a:r>
              <a:rPr lang="en-US" sz="3600" b="1" dirty="0">
                <a:solidFill>
                  <a:schemeClr val="tx1"/>
                </a:solidFill>
              </a:rPr>
              <a:t>YouTube Trending Videos Analysis</a:t>
            </a:r>
            <a:endParaRPr lang="en-US" sz="3600" dirty="0"/>
          </a:p>
        </p:txBody>
      </p:sp>
      <p:sp>
        <p:nvSpPr>
          <p:cNvPr id="7" name="Text 0"/>
          <p:cNvSpPr/>
          <p:nvPr>
            <p:ph idx="101" type="body" hasCustomPrompt="1"/>
          </p:nvPr>
        </p:nvSpPr>
        <p:spPr>
          <a:xfrm>
            <a:off x="548640" y="2487168"/>
            <a:ext cx="4480560" cy="411480"/>
          </a:xfrm>
          <a:prstGeom prst="rect">
            <a:avLst/>
          </a:prstGeom>
          <a:noFill/>
          <a:ln/>
        </p:spPr>
        <p:txBody>
          <a:bodyPr wrap="square" lIns="0" tIns="0" rIns="0" bIns="0" rtlCol="0" anchor="t"/>
          <a:lstStyle/>
          <a:p>
            <a:pPr algn="l" indent="0" marL="0">
              <a:buNone/>
            </a:pPr>
            <a:r>
              <a:rPr lang="en-US" sz="2000" dirty="0">
                <a:solidFill>
                  <a:schemeClr val="accent1"/>
                </a:solidFill>
              </a:rPr>
              <a:t>using Apache Spark and Cassandra</a:t>
            </a:r>
            <a:endParaRPr lang="en-US" sz="2000" dirty="0"/>
          </a:p>
        </p:txBody>
      </p:sp>
      <p:sp>
        <p:nvSpPr>
          <p:cNvPr id="8" name="member 1 name"/>
          <p:cNvSpPr txBox="1"/>
          <p:nvPr/>
        </p:nvSpPr>
        <p:spPr>
          <a:xfrm>
            <a:off x="548640" y="3063240"/>
            <a:ext cx="2377440" cy="292608"/>
          </a:xfrm>
          <a:prstGeom prst="rect">
            <a:avLst/>
          </a:prstGeom>
          <a:noFill/>
          <a:ln/>
        </p:spPr>
        <p:txBody>
          <a:bodyPr wrap="square" lIns="0" tIns="0" rIns="0" bIns="0" rtlCol="0" anchor="ctr"/>
          <a:lstStyle/>
          <a:p>
            <a:pPr indent="0" marL="0">
              <a:buNone/>
            </a:pPr>
            <a:r>
              <a:rPr lang="en-US" sz="1400" b="1" dirty="0">
                <a:solidFill>
                  <a:schemeClr val="tx1"/>
                </a:solidFill>
              </a:rPr>
              <a:t>Dhanishtha Deshpande</a:t>
            </a:r>
            <a:endParaRPr lang="en-US" sz="1400" dirty="0"/>
          </a:p>
        </p:txBody>
      </p:sp>
      <p:sp>
        <p:nvSpPr>
          <p:cNvPr id="9" name="member 1 roll"/>
          <p:cNvSpPr txBox="1"/>
          <p:nvPr/>
        </p:nvSpPr>
        <p:spPr>
          <a:xfrm>
            <a:off x="2971800" y="3063240"/>
            <a:ext cx="1280160" cy="292608"/>
          </a:xfrm>
          <a:prstGeom prst="rect">
            <a:avLst/>
          </a:prstGeom>
          <a:noFill/>
          <a:ln/>
        </p:spPr>
        <p:txBody>
          <a:bodyPr wrap="square" lIns="0" tIns="0" rIns="0" bIns="0" rtlCol="0" anchor="ctr"/>
          <a:lstStyle/>
          <a:p>
            <a:pPr indent="0" marL="0">
              <a:buNone/>
            </a:pPr>
            <a:r>
              <a:rPr lang="en-US" sz="1300" dirty="0">
                <a:solidFill>
                  <a:schemeClr val="accent1"/>
                </a:solidFill>
              </a:rPr>
              <a:t>Roll No. 06</a:t>
            </a:r>
            <a:endParaRPr lang="en-US" sz="1300" dirty="0"/>
          </a:p>
        </p:txBody>
      </p:sp>
      <p:sp>
        <p:nvSpPr>
          <p:cNvPr id="10" name="member 2 name"/>
          <p:cNvSpPr txBox="1"/>
          <p:nvPr/>
        </p:nvSpPr>
        <p:spPr>
          <a:xfrm>
            <a:off x="548640" y="3392424"/>
            <a:ext cx="2377440" cy="292608"/>
          </a:xfrm>
          <a:prstGeom prst="rect">
            <a:avLst/>
          </a:prstGeom>
          <a:noFill/>
          <a:ln/>
        </p:spPr>
        <p:txBody>
          <a:bodyPr wrap="square" lIns="0" tIns="0" rIns="0" bIns="0" rtlCol="0" anchor="ctr"/>
          <a:lstStyle/>
          <a:p>
            <a:pPr indent="0" marL="0">
              <a:buNone/>
            </a:pPr>
            <a:r>
              <a:rPr lang="en-US" sz="1400" b="1" dirty="0">
                <a:solidFill>
                  <a:schemeClr val="tx1"/>
                </a:solidFill>
              </a:rPr>
              <a:t>Himani Dalvi</a:t>
            </a:r>
            <a:endParaRPr lang="en-US" sz="1400" dirty="0"/>
          </a:p>
        </p:txBody>
      </p:sp>
      <p:sp>
        <p:nvSpPr>
          <p:cNvPr id="11" name="member 2 roll"/>
          <p:cNvSpPr txBox="1"/>
          <p:nvPr/>
        </p:nvSpPr>
        <p:spPr>
          <a:xfrm>
            <a:off x="2971800" y="3392424"/>
            <a:ext cx="1280160" cy="292608"/>
          </a:xfrm>
          <a:prstGeom prst="rect">
            <a:avLst/>
          </a:prstGeom>
          <a:noFill/>
          <a:ln/>
        </p:spPr>
        <p:txBody>
          <a:bodyPr wrap="square" lIns="0" tIns="0" rIns="0" bIns="0" rtlCol="0" anchor="ctr"/>
          <a:lstStyle/>
          <a:p>
            <a:pPr indent="0" marL="0">
              <a:buNone/>
            </a:pPr>
            <a:r>
              <a:rPr lang="en-US" sz="1300" dirty="0">
                <a:solidFill>
                  <a:schemeClr val="accent1"/>
                </a:solidFill>
              </a:rPr>
              <a:t>Roll No. 07</a:t>
            </a:r>
            <a:endParaRPr lang="en-US" sz="1300" dirty="0"/>
          </a:p>
        </p:txBody>
      </p:sp>
      <p:sp>
        <p:nvSpPr>
          <p:cNvPr id="12" name="member 3 name"/>
          <p:cNvSpPr txBox="1"/>
          <p:nvPr/>
        </p:nvSpPr>
        <p:spPr>
          <a:xfrm>
            <a:off x="548640" y="3721608"/>
            <a:ext cx="2377440" cy="292608"/>
          </a:xfrm>
          <a:prstGeom prst="rect">
            <a:avLst/>
          </a:prstGeom>
          <a:noFill/>
          <a:ln/>
        </p:spPr>
        <p:txBody>
          <a:bodyPr wrap="square" lIns="0" tIns="0" rIns="0" bIns="0" rtlCol="0" anchor="ctr"/>
          <a:lstStyle/>
          <a:p>
            <a:pPr indent="0" marL="0">
              <a:buNone/>
            </a:pPr>
            <a:r>
              <a:rPr lang="en-US" sz="1400" b="1" dirty="0">
                <a:solidFill>
                  <a:schemeClr val="tx1"/>
                </a:solidFill>
              </a:rPr>
              <a:t>Palak Bhutada</a:t>
            </a:r>
            <a:endParaRPr lang="en-US" sz="1400" dirty="0"/>
          </a:p>
        </p:txBody>
      </p:sp>
      <p:sp>
        <p:nvSpPr>
          <p:cNvPr id="13" name="member 3 roll"/>
          <p:cNvSpPr txBox="1"/>
          <p:nvPr/>
        </p:nvSpPr>
        <p:spPr>
          <a:xfrm>
            <a:off x="2971800" y="3721608"/>
            <a:ext cx="1280160" cy="292608"/>
          </a:xfrm>
          <a:prstGeom prst="rect">
            <a:avLst/>
          </a:prstGeom>
          <a:noFill/>
          <a:ln/>
        </p:spPr>
        <p:txBody>
          <a:bodyPr wrap="square" lIns="0" tIns="0" rIns="0" bIns="0" rtlCol="0" anchor="ctr"/>
          <a:lstStyle/>
          <a:p>
            <a:pPr indent="0" marL="0">
              <a:buNone/>
            </a:pPr>
            <a:r>
              <a:rPr lang="en-US" sz="1300" dirty="0">
                <a:solidFill>
                  <a:schemeClr val="accent1"/>
                </a:solidFill>
              </a:rPr>
              <a:t>Roll No. 13</a:t>
            </a:r>
            <a:endParaRPr lang="en-US" sz="1300" dirty="0"/>
          </a:p>
        </p:txBody>
      </p:sp>
      <p:sp>
        <p:nvSpPr>
          <p:cNvPr id="14" name="guide"/>
          <p:cNvSpPr txBox="1"/>
          <p:nvPr/>
        </p:nvSpPr>
        <p:spPr>
          <a:xfrm>
            <a:off x="548640" y="4087368"/>
            <a:ext cx="4206240" cy="274320"/>
          </a:xfrm>
          <a:prstGeom prst="rect">
            <a:avLst/>
          </a:prstGeom>
          <a:noFill/>
          <a:ln/>
        </p:spPr>
        <p:txBody>
          <a:bodyPr wrap="square" lIns="0" tIns="0" rIns="0" bIns="0" rtlCol="0" anchor="ctr"/>
          <a:lstStyle/>
          <a:p>
            <a:pPr indent="0" marL="0">
              <a:buNone/>
            </a:pPr>
            <a:r>
              <a:rPr lang="en-US" sz="1200" dirty="0">
                <a:solidFill>
                  <a:srgbClr val="7A5C66"/>
                </a:solidFill>
              </a:rPr>
              <a:t>Guides: </a:t>
            </a:r>
            <a:pPr indent="0" marL="0">
              <a:buNone/>
            </a:pPr>
            <a:r>
              <a:rPr lang="en-US" sz="1200" dirty="0">
                <a:solidFill>
                  <a:srgbClr val="3A1F2B"/>
                </a:solidFill>
              </a:rPr>
              <a:t>Bhagyashree Madan, Sonam Chopade</a:t>
            </a:r>
            <a:endParaRPr lang="en-US" sz="1200" dirty="0"/>
          </a:p>
        </p:txBody>
      </p:sp>
      <p:sp>
        <p:nvSpPr>
          <p:cNvPr id="15" name="university"/>
          <p:cNvSpPr txBox="1"/>
          <p:nvPr/>
        </p:nvSpPr>
        <p:spPr>
          <a:xfrm>
            <a:off x="548640" y="4434840"/>
            <a:ext cx="4206240" cy="274320"/>
          </a:xfrm>
          <a:prstGeom prst="rect">
            <a:avLst/>
          </a:prstGeom>
          <a:noFill/>
          <a:ln/>
        </p:spPr>
        <p:txBody>
          <a:bodyPr wrap="square" lIns="0" tIns="0" rIns="0" bIns="0" rtlCol="0" anchor="ctr"/>
          <a:lstStyle/>
          <a:p>
            <a:pPr indent="0" marL="0">
              <a:buNone/>
            </a:pPr>
            <a:r>
              <a:rPr lang="en-US" sz="1100" dirty="0">
                <a:solidFill>
                  <a:schemeClr val="tx2"/>
                </a:solidFill>
              </a:rPr>
              <a:t>Ramdeobaba University, Nagpur  |  2026–27</a:t>
            </a:r>
            <a:endParaRPr lang="en-US" sz="1100" dirty="0"/>
          </a:p>
        </p:txBody>
      </p:sp>
      <p:sp>
        <p:nvSpPr>
          <p:cNvPr id="16" name="chart card"/>
          <p:cNvSpPr/>
          <p:nvPr/>
        </p:nvSpPr>
        <p:spPr>
          <a:xfrm>
            <a:off x="5440680" y="1371600"/>
            <a:ext cx="3017520" cy="2331720"/>
          </a:xfrm>
          <a:prstGeom prst="roundRect">
            <a:avLst>
              <a:gd name="adj" fmla="val 6275"/>
            </a:avLst>
          </a:prstGeom>
          <a:solidFill>
            <a:schemeClr val="bg1"/>
          </a:solidFill>
          <a:ln w="12700">
            <a:solidFill>
              <a:srgbClr val="F6CFD8"/>
            </a:solidFill>
            <a:prstDash val="solid"/>
          </a:ln>
          <a:effectLst>
            <a:outerShdw sx="100000" sy="100000" kx="0" ky="0" algn="bl" rotWithShape="0" blurRad="177800" dist="50800" dir="5400000">
              <a:srgbClr val="9F1239">
                <a:alpha val="18000"/>
              </a:srgbClr>
            </a:outerShdw>
          </a:effectLst>
        </p:spPr>
      </p:sp>
      <p:sp>
        <p:nvSpPr>
          <p:cNvPr id="17" name="chart card title"/>
          <p:cNvSpPr txBox="1"/>
          <p:nvPr/>
        </p:nvSpPr>
        <p:spPr>
          <a:xfrm>
            <a:off x="5897880" y="1554480"/>
            <a:ext cx="2194560" cy="274320"/>
          </a:xfrm>
          <a:prstGeom prst="rect">
            <a:avLst/>
          </a:prstGeom>
          <a:noFill/>
          <a:ln/>
        </p:spPr>
        <p:txBody>
          <a:bodyPr wrap="square" lIns="0" tIns="0" rIns="0" bIns="0" rtlCol="0" anchor="ctr"/>
          <a:lstStyle/>
          <a:p>
            <a:pPr indent="0" marL="0">
              <a:buNone/>
            </a:pPr>
            <a:r>
              <a:rPr lang="en-US" sz="1200" b="1" dirty="0">
                <a:solidFill>
                  <a:schemeClr val="tx1"/>
                </a:solidFill>
              </a:rPr>
              <a:t>Trending videos by country</a:t>
            </a:r>
            <a:endParaRPr lang="en-US" sz="1200" dirty="0"/>
          </a:p>
        </p:txBody>
      </p:sp>
      <p:sp>
        <p:nvSpPr>
          <p:cNvPr id="18" name="bar IN"/>
          <p:cNvSpPr/>
          <p:nvPr/>
        </p:nvSpPr>
        <p:spPr>
          <a:xfrm>
            <a:off x="5669280" y="2437282"/>
            <a:ext cx="438912" cy="854558"/>
          </a:xfrm>
          <a:prstGeom prst="roundRect">
            <a:avLst>
              <a:gd name="adj" fmla="val 12500"/>
            </a:avLst>
          </a:prstGeom>
          <a:solidFill>
            <a:srgbClr val="E11D48"/>
          </a:solidFill>
          <a:ln/>
        </p:spPr>
      </p:sp>
      <p:sp>
        <p:nvSpPr>
          <p:cNvPr id="19" name="bar label IN"/>
          <p:cNvSpPr txBox="1"/>
          <p:nvPr/>
        </p:nvSpPr>
        <p:spPr>
          <a:xfrm>
            <a:off x="5577840" y="3346704"/>
            <a:ext cx="621792" cy="228600"/>
          </a:xfrm>
          <a:prstGeom prst="rect">
            <a:avLst/>
          </a:prstGeom>
          <a:noFill/>
          <a:ln/>
        </p:spPr>
        <p:txBody>
          <a:bodyPr wrap="square" lIns="0" tIns="0" rIns="0" bIns="0" rtlCol="0" anchor="ctr"/>
          <a:lstStyle/>
          <a:p>
            <a:pPr algn="ctr" indent="0" marL="0">
              <a:buNone/>
            </a:pPr>
            <a:r>
              <a:rPr lang="en-US" sz="1000" dirty="0">
                <a:solidFill>
                  <a:schemeClr val="tx2"/>
                </a:solidFill>
              </a:rPr>
              <a:t>IN</a:t>
            </a:r>
            <a:endParaRPr lang="en-US" sz="1000" dirty="0"/>
          </a:p>
        </p:txBody>
      </p:sp>
      <p:sp>
        <p:nvSpPr>
          <p:cNvPr id="20" name="bar US"/>
          <p:cNvSpPr/>
          <p:nvPr/>
        </p:nvSpPr>
        <p:spPr>
          <a:xfrm>
            <a:off x="6376416" y="2958999"/>
            <a:ext cx="438912" cy="332841"/>
          </a:xfrm>
          <a:prstGeom prst="roundRect">
            <a:avLst>
              <a:gd name="adj" fmla="val 16484"/>
            </a:avLst>
          </a:prstGeom>
          <a:solidFill>
            <a:srgbClr val="FDA4AF"/>
          </a:solidFill>
          <a:ln/>
        </p:spPr>
      </p:sp>
      <p:sp>
        <p:nvSpPr>
          <p:cNvPr id="21" name="bar label US"/>
          <p:cNvSpPr txBox="1"/>
          <p:nvPr/>
        </p:nvSpPr>
        <p:spPr>
          <a:xfrm>
            <a:off x="6284976" y="3346704"/>
            <a:ext cx="621792" cy="228600"/>
          </a:xfrm>
          <a:prstGeom prst="rect">
            <a:avLst/>
          </a:prstGeom>
          <a:noFill/>
          <a:ln/>
        </p:spPr>
        <p:txBody>
          <a:bodyPr wrap="square" lIns="0" tIns="0" rIns="0" bIns="0" rtlCol="0" anchor="ctr"/>
          <a:lstStyle/>
          <a:p>
            <a:pPr algn="ctr" indent="0" marL="0">
              <a:buNone/>
            </a:pPr>
            <a:r>
              <a:rPr lang="en-US" sz="1000" dirty="0">
                <a:solidFill>
                  <a:schemeClr val="tx2"/>
                </a:solidFill>
              </a:rPr>
              <a:t>US</a:t>
            </a:r>
            <a:endParaRPr lang="en-US" sz="1000" dirty="0"/>
          </a:p>
        </p:txBody>
      </p:sp>
      <p:sp>
        <p:nvSpPr>
          <p:cNvPr id="22" name="bar GB"/>
          <p:cNvSpPr/>
          <p:nvPr/>
        </p:nvSpPr>
        <p:spPr>
          <a:xfrm>
            <a:off x="7083552" y="3120362"/>
            <a:ext cx="438912" cy="171478"/>
          </a:xfrm>
          <a:prstGeom prst="roundRect">
            <a:avLst>
              <a:gd name="adj" fmla="val 31995"/>
            </a:avLst>
          </a:prstGeom>
          <a:solidFill>
            <a:srgbClr val="FB7185"/>
          </a:solidFill>
          <a:ln/>
        </p:spPr>
      </p:sp>
      <p:sp>
        <p:nvSpPr>
          <p:cNvPr id="23" name="bar label GB"/>
          <p:cNvSpPr txBox="1"/>
          <p:nvPr/>
        </p:nvSpPr>
        <p:spPr>
          <a:xfrm>
            <a:off x="6992112" y="3346704"/>
            <a:ext cx="621792" cy="228600"/>
          </a:xfrm>
          <a:prstGeom prst="rect">
            <a:avLst/>
          </a:prstGeom>
          <a:noFill/>
          <a:ln/>
        </p:spPr>
        <p:txBody>
          <a:bodyPr wrap="square" lIns="0" tIns="0" rIns="0" bIns="0" rtlCol="0" anchor="ctr"/>
          <a:lstStyle/>
          <a:p>
            <a:pPr algn="ctr" indent="0" marL="0">
              <a:buNone/>
            </a:pPr>
            <a:r>
              <a:rPr lang="en-US" sz="1000" dirty="0">
                <a:solidFill>
                  <a:schemeClr val="tx2"/>
                </a:solidFill>
              </a:rPr>
              <a:t>GB</a:t>
            </a:r>
            <a:endParaRPr lang="en-US" sz="1000" dirty="0"/>
          </a:p>
        </p:txBody>
      </p:sp>
      <p:sp>
        <p:nvSpPr>
          <p:cNvPr id="24" name="bar CA"/>
          <p:cNvSpPr/>
          <p:nvPr/>
        </p:nvSpPr>
        <p:spPr>
          <a:xfrm>
            <a:off x="7790688" y="2011680"/>
            <a:ext cx="438912" cy="1280160"/>
          </a:xfrm>
          <a:prstGeom prst="roundRect">
            <a:avLst>
              <a:gd name="adj" fmla="val 12500"/>
            </a:avLst>
          </a:prstGeom>
          <a:solidFill>
            <a:srgbClr val="9F1239"/>
          </a:solidFill>
          <a:ln/>
        </p:spPr>
      </p:sp>
      <p:sp>
        <p:nvSpPr>
          <p:cNvPr id="25" name="bar label CA"/>
          <p:cNvSpPr txBox="1"/>
          <p:nvPr/>
        </p:nvSpPr>
        <p:spPr>
          <a:xfrm>
            <a:off x="7699248" y="3346704"/>
            <a:ext cx="621792" cy="228600"/>
          </a:xfrm>
          <a:prstGeom prst="rect">
            <a:avLst/>
          </a:prstGeom>
          <a:noFill/>
          <a:ln/>
        </p:spPr>
        <p:txBody>
          <a:bodyPr wrap="square" lIns="0" tIns="0" rIns="0" bIns="0" rtlCol="0" anchor="ctr"/>
          <a:lstStyle/>
          <a:p>
            <a:pPr algn="ctr" indent="0" marL="0">
              <a:buNone/>
            </a:pPr>
            <a:r>
              <a:rPr lang="en-US" sz="1000" dirty="0">
                <a:solidFill>
                  <a:schemeClr val="tx2"/>
                </a:solidFill>
              </a:rPr>
              <a:t>CA</a:t>
            </a:r>
            <a:endParaRPr lang="en-US" sz="1000" dirty="0"/>
          </a:p>
        </p:txBody>
      </p:sp>
      <p:sp>
        <p:nvSpPr>
          <p:cNvPr id="26" name="play badge circle"/>
          <p:cNvSpPr/>
          <p:nvPr/>
        </p:nvSpPr>
        <p:spPr>
          <a:xfrm>
            <a:off x="4983480" y="868680"/>
            <a:ext cx="777240" cy="777240"/>
          </a:xfrm>
          <a:prstGeom prst="ellipse">
            <a:avLst/>
          </a:prstGeom>
          <a:solidFill>
            <a:schemeClr val="accent1"/>
          </a:solidFill>
          <a:ln/>
        </p:spPr>
      </p:sp>
      <p:pic>
        <p:nvPicPr>
          <p:cNvPr id="27" name="play badge icon" descr="preencoded.png">    </p:cNvPr>
          <p:cNvPicPr>
            <a:picLocks noChangeAspect="1"/>
          </p:cNvPicPr>
          <p:nvPr/>
        </p:nvPicPr>
        <p:blipFill>
          <a:blip r:embed="rId1"/>
          <a:stretch>
            <a:fillRect/>
          </a:stretch>
        </p:blipFill>
        <p:spPr>
          <a:xfrm>
            <a:off x="5193335" y="1078535"/>
            <a:ext cx="357530" cy="357530"/>
          </a:xfrm>
          <a:prstGeom prst="rect">
            <a:avLst/>
          </a:prstGeom>
        </p:spPr>
      </p:pic>
      <p:sp>
        <p:nvSpPr>
          <p:cNvPr id="28" name="database badge circle"/>
          <p:cNvSpPr/>
          <p:nvPr/>
        </p:nvSpPr>
        <p:spPr>
          <a:xfrm>
            <a:off x="8092440" y="1024128"/>
            <a:ext cx="640080" cy="640080"/>
          </a:xfrm>
          <a:prstGeom prst="ellipse">
            <a:avLst/>
          </a:prstGeom>
          <a:solidFill>
            <a:schemeClr val="accent1"/>
          </a:solidFill>
          <a:ln/>
        </p:spPr>
      </p:sp>
      <p:pic>
        <p:nvPicPr>
          <p:cNvPr id="29" name="database badge icon" descr="preencoded.png">    </p:cNvPr>
          <p:cNvPicPr>
            <a:picLocks noChangeAspect="1"/>
          </p:cNvPicPr>
          <p:nvPr/>
        </p:nvPicPr>
        <p:blipFill>
          <a:blip r:embed="rId2"/>
          <a:stretch>
            <a:fillRect/>
          </a:stretch>
        </p:blipFill>
        <p:spPr>
          <a:xfrm>
            <a:off x="8265262" y="1196950"/>
            <a:ext cx="294437" cy="294437"/>
          </a:xfrm>
          <a:prstGeom prst="rect">
            <a:avLst/>
          </a:prstGeom>
        </p:spPr>
      </p:pic>
      <p:sp>
        <p:nvSpPr>
          <p:cNvPr id="30" name="globe badge circle"/>
          <p:cNvSpPr/>
          <p:nvPr/>
        </p:nvSpPr>
        <p:spPr>
          <a:xfrm>
            <a:off x="7772400" y="3611880"/>
            <a:ext cx="548640" cy="548640"/>
          </a:xfrm>
          <a:prstGeom prst="ellipse">
            <a:avLst/>
          </a:prstGeom>
          <a:solidFill>
            <a:schemeClr val="accent4"/>
          </a:solidFill>
          <a:ln/>
        </p:spPr>
      </p:sp>
      <p:pic>
        <p:nvPicPr>
          <p:cNvPr id="31" name="globe badge icon" descr="preencoded.png">    </p:cNvPr>
          <p:cNvPicPr>
            <a:picLocks noChangeAspect="1"/>
          </p:cNvPicPr>
          <p:nvPr/>
        </p:nvPicPr>
        <p:blipFill>
          <a:blip r:embed="rId3"/>
          <a:stretch>
            <a:fillRect/>
          </a:stretch>
        </p:blipFill>
        <p:spPr>
          <a:xfrm>
            <a:off x="7920533" y="3760013"/>
            <a:ext cx="252374" cy="252374"/>
          </a:xfrm>
          <a:prstGeom prst="rect">
            <a:avLst/>
          </a:prstGeom>
        </p:spPr>
      </p:pic>
      <p:sp>
        <p:nvSpPr>
          <p:cNvPr id="32" name="stat pill"/>
          <p:cNvSpPr/>
          <p:nvPr/>
        </p:nvSpPr>
        <p:spPr>
          <a:xfrm>
            <a:off x="5257800" y="4023360"/>
            <a:ext cx="2468880" cy="384048"/>
          </a:xfrm>
          <a:prstGeom prst="roundRect">
            <a:avLst>
              <a:gd name="adj" fmla="val 50000"/>
            </a:avLst>
          </a:prstGeom>
          <a:solidFill>
            <a:schemeClr val="bg1"/>
          </a:solidFill>
          <a:ln w="12700">
            <a:solidFill>
              <a:srgbClr val="F6CFD8"/>
            </a:solidFill>
            <a:prstDash val="solid"/>
          </a:ln>
        </p:spPr>
      </p:sp>
      <p:sp>
        <p:nvSpPr>
          <p:cNvPr id="33" name="stat pill text"/>
          <p:cNvSpPr txBox="1"/>
          <p:nvPr/>
        </p:nvSpPr>
        <p:spPr>
          <a:xfrm>
            <a:off x="5257800" y="4023360"/>
            <a:ext cx="2468880" cy="384048"/>
          </a:xfrm>
          <a:prstGeom prst="rect">
            <a:avLst/>
          </a:prstGeom>
          <a:noFill/>
          <a:ln/>
        </p:spPr>
        <p:txBody>
          <a:bodyPr wrap="square" lIns="0" tIns="0" rIns="0" bIns="0" rtlCol="0" anchor="ctr"/>
          <a:lstStyle/>
          <a:p>
            <a:pPr algn="ctr" indent="0" marL="0">
              <a:buNone/>
            </a:pPr>
            <a:r>
              <a:rPr lang="en-US" sz="1050" b="1" dirty="0">
                <a:solidFill>
                  <a:schemeClr val="accent3"/>
                </a:solidFill>
              </a:rPr>
              <a:t>152,794 rows  |  205 days  |  4 countries</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we wanted to find out</a:t>
            </a:r>
            <a:endParaRPr lang="en-US" sz="3000" dirty="0"/>
          </a:p>
        </p:txBody>
      </p:sp>
      <p:sp>
        <p:nvSpPr>
          <p:cNvPr id="3" name="question 1 circle"/>
          <p:cNvSpPr/>
          <p:nvPr/>
        </p:nvSpPr>
        <p:spPr>
          <a:xfrm>
            <a:off x="457200" y="1097280"/>
            <a:ext cx="475488" cy="475488"/>
          </a:xfrm>
          <a:prstGeom prst="ellipse">
            <a:avLst/>
          </a:prstGeom>
          <a:solidFill>
            <a:schemeClr val="accent4"/>
          </a:solidFill>
          <a:ln/>
        </p:spPr>
      </p:sp>
      <p:pic>
        <p:nvPicPr>
          <p:cNvPr id="4" name="question 1 icon" descr="preencoded.png">    </p:cNvPr>
          <p:cNvPicPr>
            <a:picLocks noChangeAspect="1"/>
          </p:cNvPicPr>
          <p:nvPr/>
        </p:nvPicPr>
        <p:blipFill>
          <a:blip r:embed="rId1"/>
          <a:stretch>
            <a:fillRect/>
          </a:stretch>
        </p:blipFill>
        <p:spPr>
          <a:xfrm>
            <a:off x="585582" y="1225662"/>
            <a:ext cx="218724" cy="218724"/>
          </a:xfrm>
          <a:prstGeom prst="rect">
            <a:avLst/>
          </a:prstGeom>
        </p:spPr>
      </p:pic>
      <p:sp>
        <p:nvSpPr>
          <p:cNvPr id="5" name="question 1 text"/>
          <p:cNvSpPr txBox="1"/>
          <p:nvPr/>
        </p:nvSpPr>
        <p:spPr>
          <a:xfrm>
            <a:off x="1097280" y="1097280"/>
            <a:ext cx="3657600" cy="475488"/>
          </a:xfrm>
          <a:prstGeom prst="rect">
            <a:avLst/>
          </a:prstGeom>
          <a:noFill/>
          <a:ln/>
        </p:spPr>
        <p:txBody>
          <a:bodyPr wrap="square" lIns="0" tIns="0" rIns="0" bIns="0" rtlCol="0" anchor="ctr"/>
          <a:lstStyle/>
          <a:p>
            <a:pPr indent="0" marL="0">
              <a:buNone/>
            </a:pPr>
            <a:r>
              <a:rPr lang="en-US" sz="1400" dirty="0">
                <a:solidFill>
                  <a:schemeClr val="tx1"/>
                </a:solidFill>
              </a:rPr>
              <a:t>Which categories and channels trend the most?</a:t>
            </a:r>
            <a:endParaRPr lang="en-US" sz="1400" dirty="0"/>
          </a:p>
        </p:txBody>
      </p:sp>
      <p:sp>
        <p:nvSpPr>
          <p:cNvPr id="6" name="question 2 circle"/>
          <p:cNvSpPr/>
          <p:nvPr/>
        </p:nvSpPr>
        <p:spPr>
          <a:xfrm>
            <a:off x="457200" y="1773936"/>
            <a:ext cx="475488" cy="475488"/>
          </a:xfrm>
          <a:prstGeom prst="ellipse">
            <a:avLst/>
          </a:prstGeom>
          <a:solidFill>
            <a:schemeClr val="accent4"/>
          </a:solidFill>
          <a:ln/>
        </p:spPr>
      </p:sp>
      <p:pic>
        <p:nvPicPr>
          <p:cNvPr id="7" name="question 2 icon" descr="preencoded.png">    </p:cNvPr>
          <p:cNvPicPr>
            <a:picLocks noChangeAspect="1"/>
          </p:cNvPicPr>
          <p:nvPr/>
        </p:nvPicPr>
        <p:blipFill>
          <a:blip r:embed="rId2"/>
          <a:stretch>
            <a:fillRect/>
          </a:stretch>
        </p:blipFill>
        <p:spPr>
          <a:xfrm>
            <a:off x="585582" y="1902318"/>
            <a:ext cx="218724" cy="218724"/>
          </a:xfrm>
          <a:prstGeom prst="rect">
            <a:avLst/>
          </a:prstGeom>
        </p:spPr>
      </p:pic>
      <p:sp>
        <p:nvSpPr>
          <p:cNvPr id="8" name="question 2 text"/>
          <p:cNvSpPr txBox="1"/>
          <p:nvPr/>
        </p:nvSpPr>
        <p:spPr>
          <a:xfrm>
            <a:off x="1097280" y="1773936"/>
            <a:ext cx="3657600" cy="475488"/>
          </a:xfrm>
          <a:prstGeom prst="rect">
            <a:avLst/>
          </a:prstGeom>
          <a:noFill/>
          <a:ln/>
        </p:spPr>
        <p:txBody>
          <a:bodyPr wrap="square" lIns="0" tIns="0" rIns="0" bIns="0" rtlCol="0" anchor="ctr"/>
          <a:lstStyle/>
          <a:p>
            <a:pPr indent="0" marL="0">
              <a:buNone/>
            </a:pPr>
            <a:r>
              <a:rPr lang="en-US" sz="1400" dirty="0">
                <a:solidFill>
                  <a:schemeClr val="tx1"/>
                </a:solidFill>
              </a:rPr>
              <a:t>How many days after upload does a video trend?</a:t>
            </a:r>
            <a:endParaRPr lang="en-US" sz="1400" dirty="0"/>
          </a:p>
        </p:txBody>
      </p:sp>
      <p:sp>
        <p:nvSpPr>
          <p:cNvPr id="9" name="question 3 circle"/>
          <p:cNvSpPr/>
          <p:nvPr/>
        </p:nvSpPr>
        <p:spPr>
          <a:xfrm>
            <a:off x="457200" y="2450592"/>
            <a:ext cx="475488" cy="475488"/>
          </a:xfrm>
          <a:prstGeom prst="ellipse">
            <a:avLst/>
          </a:prstGeom>
          <a:solidFill>
            <a:schemeClr val="accent4"/>
          </a:solidFill>
          <a:ln/>
        </p:spPr>
      </p:sp>
      <p:pic>
        <p:nvPicPr>
          <p:cNvPr id="10" name="question 3 icon" descr="preencoded.png">    </p:cNvPr>
          <p:cNvPicPr>
            <a:picLocks noChangeAspect="1"/>
          </p:cNvPicPr>
          <p:nvPr/>
        </p:nvPicPr>
        <p:blipFill>
          <a:blip r:embed="rId3"/>
          <a:stretch>
            <a:fillRect/>
          </a:stretch>
        </p:blipFill>
        <p:spPr>
          <a:xfrm>
            <a:off x="585582" y="2578974"/>
            <a:ext cx="218724" cy="218724"/>
          </a:xfrm>
          <a:prstGeom prst="rect">
            <a:avLst/>
          </a:prstGeom>
        </p:spPr>
      </p:pic>
      <p:sp>
        <p:nvSpPr>
          <p:cNvPr id="11" name="question 3 text"/>
          <p:cNvSpPr txBox="1"/>
          <p:nvPr/>
        </p:nvSpPr>
        <p:spPr>
          <a:xfrm>
            <a:off x="1097280" y="2450592"/>
            <a:ext cx="3657600" cy="475488"/>
          </a:xfrm>
          <a:prstGeom prst="rect">
            <a:avLst/>
          </a:prstGeom>
          <a:noFill/>
          <a:ln/>
        </p:spPr>
        <p:txBody>
          <a:bodyPr wrap="square" lIns="0" tIns="0" rIns="0" bIns="0" rtlCol="0" anchor="ctr"/>
          <a:lstStyle/>
          <a:p>
            <a:pPr indent="0" marL="0">
              <a:buNone/>
            </a:pPr>
            <a:r>
              <a:rPr lang="en-US" sz="1400" dirty="0">
                <a:solidFill>
                  <a:schemeClr val="tx1"/>
                </a:solidFill>
              </a:rPr>
              <a:t>How long does it stay on the list?</a:t>
            </a:r>
            <a:endParaRPr lang="en-US" sz="1400" dirty="0"/>
          </a:p>
        </p:txBody>
      </p:sp>
      <p:sp>
        <p:nvSpPr>
          <p:cNvPr id="12" name="question 4 circle"/>
          <p:cNvSpPr/>
          <p:nvPr/>
        </p:nvSpPr>
        <p:spPr>
          <a:xfrm>
            <a:off x="457200" y="3127248"/>
            <a:ext cx="475488" cy="475488"/>
          </a:xfrm>
          <a:prstGeom prst="ellipse">
            <a:avLst/>
          </a:prstGeom>
          <a:solidFill>
            <a:schemeClr val="accent4"/>
          </a:solidFill>
          <a:ln/>
        </p:spPr>
      </p:sp>
      <p:pic>
        <p:nvPicPr>
          <p:cNvPr id="13" name="question 4 icon" descr="preencoded.png">    </p:cNvPr>
          <p:cNvPicPr>
            <a:picLocks noChangeAspect="1"/>
          </p:cNvPicPr>
          <p:nvPr/>
        </p:nvPicPr>
        <p:blipFill>
          <a:blip r:embed="rId4"/>
          <a:stretch>
            <a:fillRect/>
          </a:stretch>
        </p:blipFill>
        <p:spPr>
          <a:xfrm>
            <a:off x="585582" y="3255630"/>
            <a:ext cx="218724" cy="218724"/>
          </a:xfrm>
          <a:prstGeom prst="rect">
            <a:avLst/>
          </a:prstGeom>
        </p:spPr>
      </p:pic>
      <p:sp>
        <p:nvSpPr>
          <p:cNvPr id="14" name="question 4 text"/>
          <p:cNvSpPr txBox="1"/>
          <p:nvPr/>
        </p:nvSpPr>
        <p:spPr>
          <a:xfrm>
            <a:off x="1097280" y="3127248"/>
            <a:ext cx="3657600" cy="475488"/>
          </a:xfrm>
          <a:prstGeom prst="rect">
            <a:avLst/>
          </a:prstGeom>
          <a:noFill/>
          <a:ln/>
        </p:spPr>
        <p:txBody>
          <a:bodyPr wrap="square" lIns="0" tIns="0" rIns="0" bIns="0" rtlCol="0" anchor="ctr"/>
          <a:lstStyle/>
          <a:p>
            <a:pPr indent="0" marL="0">
              <a:buNone/>
            </a:pPr>
            <a:r>
              <a:rPr lang="en-US" sz="1400" dirty="0">
                <a:solidFill>
                  <a:schemeClr val="tx1"/>
                </a:solidFill>
              </a:rPr>
              <a:t>When are trending videos uploaded?</a:t>
            </a:r>
            <a:endParaRPr lang="en-US" sz="1400" dirty="0"/>
          </a:p>
        </p:txBody>
      </p:sp>
      <p:sp>
        <p:nvSpPr>
          <p:cNvPr id="15" name="question 5 circle"/>
          <p:cNvSpPr/>
          <p:nvPr/>
        </p:nvSpPr>
        <p:spPr>
          <a:xfrm>
            <a:off x="457200" y="3803904"/>
            <a:ext cx="475488" cy="475488"/>
          </a:xfrm>
          <a:prstGeom prst="ellipse">
            <a:avLst/>
          </a:prstGeom>
          <a:solidFill>
            <a:schemeClr val="accent4"/>
          </a:solidFill>
          <a:ln/>
        </p:spPr>
      </p:sp>
      <p:pic>
        <p:nvPicPr>
          <p:cNvPr id="16" name="question 5 icon" descr="preencoded.png">    </p:cNvPr>
          <p:cNvPicPr>
            <a:picLocks noChangeAspect="1"/>
          </p:cNvPicPr>
          <p:nvPr/>
        </p:nvPicPr>
        <p:blipFill>
          <a:blip r:embed="rId5"/>
          <a:stretch>
            <a:fillRect/>
          </a:stretch>
        </p:blipFill>
        <p:spPr>
          <a:xfrm>
            <a:off x="585582" y="3932286"/>
            <a:ext cx="218724" cy="218724"/>
          </a:xfrm>
          <a:prstGeom prst="rect">
            <a:avLst/>
          </a:prstGeom>
        </p:spPr>
      </p:pic>
      <p:sp>
        <p:nvSpPr>
          <p:cNvPr id="17" name="question 5 text"/>
          <p:cNvSpPr txBox="1"/>
          <p:nvPr/>
        </p:nvSpPr>
        <p:spPr>
          <a:xfrm>
            <a:off x="1097280" y="3803904"/>
            <a:ext cx="3657600" cy="475488"/>
          </a:xfrm>
          <a:prstGeom prst="rect">
            <a:avLst/>
          </a:prstGeom>
          <a:noFill/>
          <a:ln/>
        </p:spPr>
        <p:txBody>
          <a:bodyPr wrap="square" lIns="0" tIns="0" rIns="0" bIns="0" rtlCol="0" anchor="ctr"/>
          <a:lstStyle/>
          <a:p>
            <a:pPr indent="0" marL="0">
              <a:buNone/>
            </a:pPr>
            <a:r>
              <a:rPr lang="en-US" sz="1400" dirty="0">
                <a:solidFill>
                  <a:schemeClr val="tx1"/>
                </a:solidFill>
              </a:rPr>
              <a:t>Which videos trend in more than one country?</a:t>
            </a:r>
            <a:endParaRPr lang="en-US" sz="1400" dirty="0"/>
          </a:p>
        </p:txBody>
      </p:sp>
      <p:sp>
        <p:nvSpPr>
          <p:cNvPr id="18" name="stat box 1"/>
          <p:cNvSpPr/>
          <p:nvPr/>
        </p:nvSpPr>
        <p:spPr>
          <a:xfrm>
            <a:off x="5120640" y="1097280"/>
            <a:ext cx="1691640" cy="1463040"/>
          </a:xfrm>
          <a:prstGeom prst="roundRect">
            <a:avLst>
              <a:gd name="adj" fmla="val 7500"/>
            </a:avLst>
          </a:prstGeom>
          <a:solidFill>
            <a:schemeClr val="bg2"/>
          </a:solidFill>
          <a:ln w="12700">
            <a:solidFill>
              <a:srgbClr val="F6CFD8"/>
            </a:solidFill>
            <a:prstDash val="solid"/>
          </a:ln>
        </p:spPr>
      </p:sp>
      <p:sp>
        <p:nvSpPr>
          <p:cNvPr id="19" name="stat number 1"/>
          <p:cNvSpPr txBox="1"/>
          <p:nvPr/>
        </p:nvSpPr>
        <p:spPr>
          <a:xfrm>
            <a:off x="5285232" y="1261872"/>
            <a:ext cx="1417320" cy="548640"/>
          </a:xfrm>
          <a:prstGeom prst="rect">
            <a:avLst/>
          </a:prstGeom>
          <a:noFill/>
          <a:ln/>
        </p:spPr>
        <p:txBody>
          <a:bodyPr wrap="square" lIns="0" tIns="0" rIns="0" bIns="0" rtlCol="0" anchor="ctr"/>
          <a:lstStyle/>
          <a:p>
            <a:pPr indent="0" marL="0">
              <a:buNone/>
            </a:pPr>
            <a:r>
              <a:rPr lang="en-US" sz="2800" b="1" dirty="0">
                <a:solidFill>
                  <a:schemeClr val="accent1"/>
                </a:solidFill>
              </a:rPr>
              <a:t>4</a:t>
            </a:r>
            <a:endParaRPr lang="en-US" sz="2800" dirty="0"/>
          </a:p>
        </p:txBody>
      </p:sp>
      <p:sp>
        <p:nvSpPr>
          <p:cNvPr id="20" name="stat label 1"/>
          <p:cNvSpPr txBox="1"/>
          <p:nvPr/>
        </p:nvSpPr>
        <p:spPr>
          <a:xfrm>
            <a:off x="5285232" y="1847088"/>
            <a:ext cx="1463040" cy="621792"/>
          </a:xfrm>
          <a:prstGeom prst="rect">
            <a:avLst/>
          </a:prstGeom>
          <a:noFill/>
          <a:ln/>
        </p:spPr>
        <p:txBody>
          <a:bodyPr wrap="square" lIns="0" tIns="0" rIns="0" bIns="0" rtlCol="0" anchor="t"/>
          <a:lstStyle/>
          <a:p>
            <a:pPr indent="0" marL="0">
              <a:buNone/>
            </a:pPr>
            <a:r>
              <a:rPr lang="en-US" sz="1100" dirty="0">
                <a:solidFill>
                  <a:schemeClr val="tx2"/>
                </a:solidFill>
              </a:rPr>
              <a:t>countries: India, USA,</a:t>
            </a:r>
            <a:endParaRPr lang="en-US" sz="1100" dirty="0"/>
          </a:p>
          <a:p>
            <a:pPr indent="0" marL="0">
              <a:buNone/>
            </a:pPr>
            <a:r>
              <a:rPr lang="en-US" sz="1100" dirty="0">
                <a:solidFill>
                  <a:schemeClr val="tx2"/>
                </a:solidFill>
              </a:rPr>
              <a:t>Great Britain, Canada</a:t>
            </a:r>
            <a:endParaRPr lang="en-US" sz="1100" dirty="0"/>
          </a:p>
        </p:txBody>
      </p:sp>
      <p:sp>
        <p:nvSpPr>
          <p:cNvPr id="21" name="stat box 2"/>
          <p:cNvSpPr/>
          <p:nvPr/>
        </p:nvSpPr>
        <p:spPr>
          <a:xfrm>
            <a:off x="6949440" y="1097280"/>
            <a:ext cx="1691640" cy="1463040"/>
          </a:xfrm>
          <a:prstGeom prst="roundRect">
            <a:avLst>
              <a:gd name="adj" fmla="val 7500"/>
            </a:avLst>
          </a:prstGeom>
          <a:solidFill>
            <a:schemeClr val="bg2"/>
          </a:solidFill>
          <a:ln w="12700">
            <a:solidFill>
              <a:srgbClr val="F6CFD8"/>
            </a:solidFill>
            <a:prstDash val="solid"/>
          </a:ln>
        </p:spPr>
      </p:sp>
      <p:sp>
        <p:nvSpPr>
          <p:cNvPr id="22" name="stat number 2"/>
          <p:cNvSpPr txBox="1"/>
          <p:nvPr/>
        </p:nvSpPr>
        <p:spPr>
          <a:xfrm>
            <a:off x="7114032" y="1261872"/>
            <a:ext cx="1417320" cy="548640"/>
          </a:xfrm>
          <a:prstGeom prst="rect">
            <a:avLst/>
          </a:prstGeom>
          <a:noFill/>
          <a:ln/>
        </p:spPr>
        <p:txBody>
          <a:bodyPr wrap="square" lIns="0" tIns="0" rIns="0" bIns="0" rtlCol="0" anchor="ctr"/>
          <a:lstStyle/>
          <a:p>
            <a:pPr indent="0" marL="0">
              <a:buNone/>
            </a:pPr>
            <a:r>
              <a:rPr lang="en-US" sz="2800" b="1" dirty="0">
                <a:solidFill>
                  <a:schemeClr val="accent1"/>
                </a:solidFill>
              </a:rPr>
              <a:t>158,098</a:t>
            </a:r>
            <a:endParaRPr lang="en-US" sz="2800" dirty="0"/>
          </a:p>
        </p:txBody>
      </p:sp>
      <p:sp>
        <p:nvSpPr>
          <p:cNvPr id="23" name="stat label 2"/>
          <p:cNvSpPr txBox="1"/>
          <p:nvPr/>
        </p:nvSpPr>
        <p:spPr>
          <a:xfrm>
            <a:off x="7114032" y="1847088"/>
            <a:ext cx="1463040" cy="621792"/>
          </a:xfrm>
          <a:prstGeom prst="rect">
            <a:avLst/>
          </a:prstGeom>
          <a:noFill/>
          <a:ln/>
        </p:spPr>
        <p:txBody>
          <a:bodyPr wrap="square" lIns="0" tIns="0" rIns="0" bIns="0" rtlCol="0" anchor="t"/>
          <a:lstStyle/>
          <a:p>
            <a:pPr indent="0" marL="0">
              <a:buNone/>
            </a:pPr>
            <a:r>
              <a:rPr lang="en-US" sz="1100" dirty="0">
                <a:solidFill>
                  <a:schemeClr val="tx2"/>
                </a:solidFill>
              </a:rPr>
              <a:t>rows in the raw data</a:t>
            </a:r>
            <a:endParaRPr lang="en-US" sz="1100" dirty="0"/>
          </a:p>
        </p:txBody>
      </p:sp>
      <p:sp>
        <p:nvSpPr>
          <p:cNvPr id="24" name="stat box 3"/>
          <p:cNvSpPr/>
          <p:nvPr/>
        </p:nvSpPr>
        <p:spPr>
          <a:xfrm>
            <a:off x="5120640" y="2724912"/>
            <a:ext cx="1691640" cy="1463040"/>
          </a:xfrm>
          <a:prstGeom prst="roundRect">
            <a:avLst>
              <a:gd name="adj" fmla="val 7500"/>
            </a:avLst>
          </a:prstGeom>
          <a:solidFill>
            <a:schemeClr val="bg2"/>
          </a:solidFill>
          <a:ln w="12700">
            <a:solidFill>
              <a:srgbClr val="F6CFD8"/>
            </a:solidFill>
            <a:prstDash val="solid"/>
          </a:ln>
        </p:spPr>
      </p:sp>
      <p:sp>
        <p:nvSpPr>
          <p:cNvPr id="25" name="stat number 3"/>
          <p:cNvSpPr txBox="1"/>
          <p:nvPr/>
        </p:nvSpPr>
        <p:spPr>
          <a:xfrm>
            <a:off x="5285232" y="2889504"/>
            <a:ext cx="1417320" cy="548640"/>
          </a:xfrm>
          <a:prstGeom prst="rect">
            <a:avLst/>
          </a:prstGeom>
          <a:noFill/>
          <a:ln/>
        </p:spPr>
        <p:txBody>
          <a:bodyPr wrap="square" lIns="0" tIns="0" rIns="0" bIns="0" rtlCol="0" anchor="ctr"/>
          <a:lstStyle/>
          <a:p>
            <a:pPr indent="0" marL="0">
              <a:buNone/>
            </a:pPr>
            <a:r>
              <a:rPr lang="en-US" sz="2800" b="1" dirty="0">
                <a:solidFill>
                  <a:schemeClr val="accent1"/>
                </a:solidFill>
              </a:rPr>
              <a:t>205</a:t>
            </a:r>
            <a:endParaRPr lang="en-US" sz="2800" dirty="0"/>
          </a:p>
        </p:txBody>
      </p:sp>
      <p:sp>
        <p:nvSpPr>
          <p:cNvPr id="26" name="stat label 3"/>
          <p:cNvSpPr txBox="1"/>
          <p:nvPr/>
        </p:nvSpPr>
        <p:spPr>
          <a:xfrm>
            <a:off x="5285232" y="3474720"/>
            <a:ext cx="1463040" cy="621792"/>
          </a:xfrm>
          <a:prstGeom prst="rect">
            <a:avLst/>
          </a:prstGeom>
          <a:noFill/>
          <a:ln/>
        </p:spPr>
        <p:txBody>
          <a:bodyPr wrap="square" lIns="0" tIns="0" rIns="0" bIns="0" rtlCol="0" anchor="t"/>
          <a:lstStyle/>
          <a:p>
            <a:pPr indent="0" marL="0">
              <a:buNone/>
            </a:pPr>
            <a:r>
              <a:rPr lang="en-US" sz="1100" dirty="0">
                <a:solidFill>
                  <a:schemeClr val="tx2"/>
                </a:solidFill>
              </a:rPr>
              <a:t>days of data</a:t>
            </a:r>
            <a:endParaRPr lang="en-US" sz="1100" dirty="0"/>
          </a:p>
          <a:p>
            <a:pPr indent="0" marL="0">
              <a:buNone/>
            </a:pPr>
            <a:r>
              <a:rPr lang="en-US" sz="1100" dirty="0">
                <a:solidFill>
                  <a:schemeClr val="tx2"/>
                </a:solidFill>
              </a:rPr>
              <a:t>(Nov 2017 to Jun 2018)</a:t>
            </a:r>
            <a:endParaRPr lang="en-US" sz="1100" dirty="0"/>
          </a:p>
        </p:txBody>
      </p:sp>
      <p:sp>
        <p:nvSpPr>
          <p:cNvPr id="27" name="stat box 4"/>
          <p:cNvSpPr/>
          <p:nvPr/>
        </p:nvSpPr>
        <p:spPr>
          <a:xfrm>
            <a:off x="6949440" y="2724912"/>
            <a:ext cx="1691640" cy="1463040"/>
          </a:xfrm>
          <a:prstGeom prst="roundRect">
            <a:avLst>
              <a:gd name="adj" fmla="val 7500"/>
            </a:avLst>
          </a:prstGeom>
          <a:solidFill>
            <a:schemeClr val="bg2"/>
          </a:solidFill>
          <a:ln w="12700">
            <a:solidFill>
              <a:srgbClr val="F6CFD8"/>
            </a:solidFill>
            <a:prstDash val="solid"/>
          </a:ln>
        </p:spPr>
      </p:sp>
      <p:sp>
        <p:nvSpPr>
          <p:cNvPr id="28" name="stat number 4"/>
          <p:cNvSpPr txBox="1"/>
          <p:nvPr/>
        </p:nvSpPr>
        <p:spPr>
          <a:xfrm>
            <a:off x="7114032" y="2889504"/>
            <a:ext cx="1417320" cy="548640"/>
          </a:xfrm>
          <a:prstGeom prst="rect">
            <a:avLst/>
          </a:prstGeom>
          <a:noFill/>
          <a:ln/>
        </p:spPr>
        <p:txBody>
          <a:bodyPr wrap="square" lIns="0" tIns="0" rIns="0" bIns="0" rtlCol="0" anchor="ctr"/>
          <a:lstStyle/>
          <a:p>
            <a:pPr indent="0" marL="0">
              <a:buNone/>
            </a:pPr>
            <a:r>
              <a:rPr lang="en-US" sz="2800" b="1" dirty="0">
                <a:solidFill>
                  <a:schemeClr val="accent1"/>
                </a:solidFill>
              </a:rPr>
              <a:t>8</a:t>
            </a:r>
            <a:endParaRPr lang="en-US" sz="2800" dirty="0"/>
          </a:p>
        </p:txBody>
      </p:sp>
      <p:sp>
        <p:nvSpPr>
          <p:cNvPr id="29" name="stat label 4"/>
          <p:cNvSpPr txBox="1"/>
          <p:nvPr/>
        </p:nvSpPr>
        <p:spPr>
          <a:xfrm>
            <a:off x="7114032" y="3474720"/>
            <a:ext cx="1463040" cy="621792"/>
          </a:xfrm>
          <a:prstGeom prst="rect">
            <a:avLst/>
          </a:prstGeom>
          <a:noFill/>
          <a:ln/>
        </p:spPr>
        <p:txBody>
          <a:bodyPr wrap="square" lIns="0" tIns="0" rIns="0" bIns="0" rtlCol="0" anchor="t"/>
          <a:lstStyle/>
          <a:p>
            <a:pPr indent="0" marL="0">
              <a:buNone/>
            </a:pPr>
            <a:r>
              <a:rPr lang="en-US" sz="1100" dirty="0">
                <a:solidFill>
                  <a:schemeClr val="tx2"/>
                </a:solidFill>
              </a:rPr>
              <a:t>questions answered</a:t>
            </a:r>
            <a:endParaRPr lang="en-US" sz="1100" dirty="0"/>
          </a:p>
          <a:p>
            <a:pPr indent="0" marL="0">
              <a:buNone/>
            </a:pPr>
            <a:r>
              <a:rPr lang="en-US" sz="1100" dirty="0">
                <a:solidFill>
                  <a:schemeClr val="tx2"/>
                </a:solidFill>
              </a:rPr>
              <a:t>with Spark SQL</a:t>
            </a:r>
            <a:endParaRPr lang="en-US" sz="1100" dirty="0"/>
          </a:p>
        </p:txBody>
      </p:sp>
      <p:sp>
        <p:nvSpPr>
          <p:cNvPr id="30" name="scope note"/>
          <p:cNvSpPr txBox="1"/>
          <p:nvPr/>
        </p:nvSpPr>
        <p:spPr>
          <a:xfrm>
            <a:off x="457200" y="4480560"/>
            <a:ext cx="4572000" cy="228600"/>
          </a:xfrm>
          <a:prstGeom prst="rect">
            <a:avLst/>
          </a:prstGeom>
          <a:noFill/>
          <a:ln/>
        </p:spPr>
        <p:txBody>
          <a:bodyPr wrap="square" lIns="0" tIns="0" rIns="0" bIns="0" rtlCol="0" anchor="ctr"/>
          <a:lstStyle/>
          <a:p>
            <a:pPr indent="0" marL="0">
              <a:buNone/>
            </a:pPr>
            <a:r>
              <a:rPr lang="en-US" sz="1100" i="1" dirty="0">
                <a:solidFill>
                  <a:schemeClr val="tx2"/>
                </a:solidFill>
              </a:rPr>
              <a:t>No prediction. We only analysed what happened.</a:t>
            </a:r>
            <a:endParaRPr lang="en-US" sz="1100" dirty="0"/>
          </a:p>
        </p:txBody>
      </p:sp>
      <p:sp>
        <p:nvSpPr>
          <p:cNvPr id="31" name="dataset source"/>
          <p:cNvSpPr txBox="1"/>
          <p:nvPr/>
        </p:nvSpPr>
        <p:spPr>
          <a:xfrm>
            <a:off x="5120640" y="4480560"/>
            <a:ext cx="3566160" cy="228600"/>
          </a:xfrm>
          <a:prstGeom prst="rect">
            <a:avLst/>
          </a:prstGeom>
          <a:noFill/>
          <a:ln/>
        </p:spPr>
        <p:txBody>
          <a:bodyPr wrap="square" lIns="0" tIns="0" rIns="0" bIns="0" rtlCol="0" anchor="ctr"/>
          <a:lstStyle/>
          <a:p>
            <a:pPr indent="0" marL="0">
              <a:buNone/>
            </a:pPr>
            <a:r>
              <a:rPr lang="en-US" sz="1000" i="1" dirty="0">
                <a:solidFill>
                  <a:schemeClr val="tx2"/>
                </a:solidFill>
              </a:rPr>
              <a:t>Dataset: Trending YouTube Video Statistics (Kaggle)</a:t>
            </a:r>
            <a:endParaRPr lang="en-US" sz="10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How we built it</a:t>
            </a:r>
            <a:endParaRPr lang="en-US" sz="3000" dirty="0"/>
          </a:p>
        </p:txBody>
      </p:sp>
      <p:sp>
        <p:nvSpPr>
          <p:cNvPr id="3" name="step box 1"/>
          <p:cNvSpPr/>
          <p:nvPr/>
        </p:nvSpPr>
        <p:spPr>
          <a:xfrm>
            <a:off x="457200" y="1097280"/>
            <a:ext cx="1463040" cy="1828800"/>
          </a:xfrm>
          <a:prstGeom prst="roundRect">
            <a:avLst>
              <a:gd name="adj" fmla="val 7500"/>
            </a:avLst>
          </a:prstGeom>
          <a:solidFill>
            <a:schemeClr val="bg2"/>
          </a:solidFill>
          <a:ln w="12700">
            <a:solidFill>
              <a:srgbClr val="F6CFD8"/>
            </a:solidFill>
            <a:prstDash val="solid"/>
          </a:ln>
        </p:spPr>
      </p:sp>
      <p:sp>
        <p:nvSpPr>
          <p:cNvPr id="4" name="step 1 circle"/>
          <p:cNvSpPr/>
          <p:nvPr/>
        </p:nvSpPr>
        <p:spPr>
          <a:xfrm>
            <a:off x="621792" y="1280160"/>
            <a:ext cx="502920" cy="502920"/>
          </a:xfrm>
          <a:prstGeom prst="ellipse">
            <a:avLst/>
          </a:prstGeom>
          <a:solidFill>
            <a:schemeClr val="accent1"/>
          </a:solidFill>
          <a:ln/>
        </p:spPr>
      </p:sp>
      <p:pic>
        <p:nvPicPr>
          <p:cNvPr id="5" name="step 1 icon" descr="preencoded.png">    </p:cNvPr>
          <p:cNvPicPr>
            <a:picLocks noChangeAspect="1"/>
          </p:cNvPicPr>
          <p:nvPr/>
        </p:nvPicPr>
        <p:blipFill>
          <a:blip r:embed="rId1"/>
          <a:stretch>
            <a:fillRect/>
          </a:stretch>
        </p:blipFill>
        <p:spPr>
          <a:xfrm>
            <a:off x="757580" y="1415948"/>
            <a:ext cx="231343" cy="231343"/>
          </a:xfrm>
          <a:prstGeom prst="rect">
            <a:avLst/>
          </a:prstGeom>
        </p:spPr>
      </p:pic>
      <p:sp>
        <p:nvSpPr>
          <p:cNvPr id="6" name="step title 1"/>
          <p:cNvSpPr txBox="1"/>
          <p:nvPr/>
        </p:nvSpPr>
        <p:spPr>
          <a:xfrm>
            <a:off x="621792" y="1874520"/>
            <a:ext cx="1188720" cy="320040"/>
          </a:xfrm>
          <a:prstGeom prst="rect">
            <a:avLst/>
          </a:prstGeom>
          <a:noFill/>
          <a:ln/>
        </p:spPr>
        <p:txBody>
          <a:bodyPr wrap="square" lIns="0" tIns="0" rIns="0" bIns="0" rtlCol="0" anchor="ctr"/>
          <a:lstStyle/>
          <a:p>
            <a:pPr indent="0" marL="0">
              <a:buNone/>
            </a:pPr>
            <a:r>
              <a:rPr lang="en-US" sz="1400" b="1" dirty="0">
                <a:solidFill>
                  <a:schemeClr val="tx1"/>
                </a:solidFill>
              </a:rPr>
              <a:t>1. Dataset</a:t>
            </a:r>
            <a:endParaRPr lang="en-US" sz="1400" dirty="0"/>
          </a:p>
        </p:txBody>
      </p:sp>
      <p:sp>
        <p:nvSpPr>
          <p:cNvPr id="7" name="step text 1"/>
          <p:cNvSpPr txBox="1"/>
          <p:nvPr/>
        </p:nvSpPr>
        <p:spPr>
          <a:xfrm>
            <a:off x="621792" y="2212848"/>
            <a:ext cx="1188720" cy="640080"/>
          </a:xfrm>
          <a:prstGeom prst="rect">
            <a:avLst/>
          </a:prstGeom>
          <a:noFill/>
          <a:ln/>
        </p:spPr>
        <p:txBody>
          <a:bodyPr wrap="square" lIns="0" tIns="0" rIns="0" bIns="0" rtlCol="0" anchor="t"/>
          <a:lstStyle/>
          <a:p>
            <a:pPr indent="0" marL="0">
              <a:buNone/>
            </a:pPr>
            <a:r>
              <a:rPr lang="en-US" sz="1100" dirty="0">
                <a:solidFill>
                  <a:schemeClr val="tx2"/>
                </a:solidFill>
              </a:rPr>
              <a:t>4 CSV + 4 JSON files in Google Drive</a:t>
            </a:r>
            <a:endParaRPr lang="en-US" sz="1100" dirty="0"/>
          </a:p>
        </p:txBody>
      </p:sp>
      <p:sp>
        <p:nvSpPr>
          <p:cNvPr id="8" name="arrow 1"/>
          <p:cNvSpPr/>
          <p:nvPr/>
        </p:nvSpPr>
        <p:spPr>
          <a:xfrm>
            <a:off x="1956816" y="2011680"/>
            <a:ext cx="155448" cy="0"/>
          </a:xfrm>
          <a:prstGeom prst="line">
            <a:avLst/>
          </a:prstGeom>
          <a:noFill/>
          <a:ln w="19050">
            <a:solidFill>
              <a:srgbClr val="E11D48"/>
            </a:solidFill>
            <a:prstDash val="solid"/>
            <a:tailEnd type="triangle"/>
          </a:ln>
        </p:spPr>
      </p:sp>
      <p:sp>
        <p:nvSpPr>
          <p:cNvPr id="9" name="step box 2"/>
          <p:cNvSpPr/>
          <p:nvPr/>
        </p:nvSpPr>
        <p:spPr>
          <a:xfrm>
            <a:off x="2148840" y="1097280"/>
            <a:ext cx="1463040" cy="1828800"/>
          </a:xfrm>
          <a:prstGeom prst="roundRect">
            <a:avLst>
              <a:gd name="adj" fmla="val 7500"/>
            </a:avLst>
          </a:prstGeom>
          <a:solidFill>
            <a:schemeClr val="bg2"/>
          </a:solidFill>
          <a:ln w="12700">
            <a:solidFill>
              <a:srgbClr val="F6CFD8"/>
            </a:solidFill>
            <a:prstDash val="solid"/>
          </a:ln>
        </p:spPr>
      </p:sp>
      <p:sp>
        <p:nvSpPr>
          <p:cNvPr id="10" name="step 2 circle"/>
          <p:cNvSpPr/>
          <p:nvPr/>
        </p:nvSpPr>
        <p:spPr>
          <a:xfrm>
            <a:off x="2313432" y="1280160"/>
            <a:ext cx="502920" cy="502920"/>
          </a:xfrm>
          <a:prstGeom prst="ellipse">
            <a:avLst/>
          </a:prstGeom>
          <a:solidFill>
            <a:schemeClr val="accent1"/>
          </a:solidFill>
          <a:ln/>
        </p:spPr>
      </p:sp>
      <p:pic>
        <p:nvPicPr>
          <p:cNvPr id="11" name="step 2 icon" descr="preencoded.png">    </p:cNvPr>
          <p:cNvPicPr>
            <a:picLocks noChangeAspect="1"/>
          </p:cNvPicPr>
          <p:nvPr/>
        </p:nvPicPr>
        <p:blipFill>
          <a:blip r:embed="rId2"/>
          <a:stretch>
            <a:fillRect/>
          </a:stretch>
        </p:blipFill>
        <p:spPr>
          <a:xfrm>
            <a:off x="2449220" y="1415948"/>
            <a:ext cx="231343" cy="231343"/>
          </a:xfrm>
          <a:prstGeom prst="rect">
            <a:avLst/>
          </a:prstGeom>
        </p:spPr>
      </p:pic>
      <p:sp>
        <p:nvSpPr>
          <p:cNvPr id="12" name="step title 2"/>
          <p:cNvSpPr txBox="1"/>
          <p:nvPr/>
        </p:nvSpPr>
        <p:spPr>
          <a:xfrm>
            <a:off x="2313432" y="1874520"/>
            <a:ext cx="1188720" cy="320040"/>
          </a:xfrm>
          <a:prstGeom prst="rect">
            <a:avLst/>
          </a:prstGeom>
          <a:noFill/>
          <a:ln/>
        </p:spPr>
        <p:txBody>
          <a:bodyPr wrap="square" lIns="0" tIns="0" rIns="0" bIns="0" rtlCol="0" anchor="ctr"/>
          <a:lstStyle/>
          <a:p>
            <a:pPr indent="0" marL="0">
              <a:buNone/>
            </a:pPr>
            <a:r>
              <a:rPr lang="en-US" sz="1400" b="1" dirty="0">
                <a:solidFill>
                  <a:schemeClr val="tx1"/>
                </a:solidFill>
              </a:rPr>
              <a:t>2. Spark</a:t>
            </a:r>
            <a:endParaRPr lang="en-US" sz="1400" dirty="0"/>
          </a:p>
        </p:txBody>
      </p:sp>
      <p:sp>
        <p:nvSpPr>
          <p:cNvPr id="13" name="step text 2"/>
          <p:cNvSpPr txBox="1"/>
          <p:nvPr/>
        </p:nvSpPr>
        <p:spPr>
          <a:xfrm>
            <a:off x="2313432" y="2212848"/>
            <a:ext cx="1188720" cy="640080"/>
          </a:xfrm>
          <a:prstGeom prst="rect">
            <a:avLst/>
          </a:prstGeom>
          <a:noFill/>
          <a:ln/>
        </p:spPr>
        <p:txBody>
          <a:bodyPr wrap="square" lIns="0" tIns="0" rIns="0" bIns="0" rtlCol="0" anchor="t"/>
          <a:lstStyle/>
          <a:p>
            <a:pPr indent="0" marL="0">
              <a:buNone/>
            </a:pPr>
            <a:r>
              <a:rPr lang="en-US" sz="1100" dirty="0">
                <a:solidFill>
                  <a:schemeClr val="tx2"/>
                </a:solidFill>
              </a:rPr>
              <a:t>Load, fix dates and types, remove duplicates</a:t>
            </a:r>
            <a:endParaRPr lang="en-US" sz="1100" dirty="0"/>
          </a:p>
        </p:txBody>
      </p:sp>
      <p:sp>
        <p:nvSpPr>
          <p:cNvPr id="14" name="arrow 2"/>
          <p:cNvSpPr/>
          <p:nvPr/>
        </p:nvSpPr>
        <p:spPr>
          <a:xfrm>
            <a:off x="3648456" y="2011680"/>
            <a:ext cx="155448" cy="0"/>
          </a:xfrm>
          <a:prstGeom prst="line">
            <a:avLst/>
          </a:prstGeom>
          <a:noFill/>
          <a:ln w="19050">
            <a:solidFill>
              <a:srgbClr val="E11D48"/>
            </a:solidFill>
            <a:prstDash val="solid"/>
            <a:tailEnd type="triangle"/>
          </a:ln>
        </p:spPr>
      </p:sp>
      <p:sp>
        <p:nvSpPr>
          <p:cNvPr id="15" name="step box 3"/>
          <p:cNvSpPr/>
          <p:nvPr/>
        </p:nvSpPr>
        <p:spPr>
          <a:xfrm>
            <a:off x="3840480" y="1097280"/>
            <a:ext cx="1463040" cy="1828800"/>
          </a:xfrm>
          <a:prstGeom prst="roundRect">
            <a:avLst>
              <a:gd name="adj" fmla="val 7500"/>
            </a:avLst>
          </a:prstGeom>
          <a:solidFill>
            <a:schemeClr val="bg2"/>
          </a:solidFill>
          <a:ln w="12700">
            <a:solidFill>
              <a:srgbClr val="F6CFD8"/>
            </a:solidFill>
            <a:prstDash val="solid"/>
          </a:ln>
        </p:spPr>
      </p:sp>
      <p:sp>
        <p:nvSpPr>
          <p:cNvPr id="16" name="step 3 circle"/>
          <p:cNvSpPr/>
          <p:nvPr/>
        </p:nvSpPr>
        <p:spPr>
          <a:xfrm>
            <a:off x="4005072" y="1280160"/>
            <a:ext cx="502920" cy="502920"/>
          </a:xfrm>
          <a:prstGeom prst="ellipse">
            <a:avLst/>
          </a:prstGeom>
          <a:solidFill>
            <a:schemeClr val="accent1"/>
          </a:solidFill>
          <a:ln/>
        </p:spPr>
      </p:sp>
      <p:pic>
        <p:nvPicPr>
          <p:cNvPr id="17" name="step 3 icon" descr="preencoded.png">    </p:cNvPr>
          <p:cNvPicPr>
            <a:picLocks noChangeAspect="1"/>
          </p:cNvPicPr>
          <p:nvPr/>
        </p:nvPicPr>
        <p:blipFill>
          <a:blip r:embed="rId3"/>
          <a:stretch>
            <a:fillRect/>
          </a:stretch>
        </p:blipFill>
        <p:spPr>
          <a:xfrm>
            <a:off x="4140860" y="1415948"/>
            <a:ext cx="231343" cy="231343"/>
          </a:xfrm>
          <a:prstGeom prst="rect">
            <a:avLst/>
          </a:prstGeom>
        </p:spPr>
      </p:pic>
      <p:sp>
        <p:nvSpPr>
          <p:cNvPr id="18" name="step title 3"/>
          <p:cNvSpPr txBox="1"/>
          <p:nvPr/>
        </p:nvSpPr>
        <p:spPr>
          <a:xfrm>
            <a:off x="4005072" y="1874520"/>
            <a:ext cx="1188720" cy="320040"/>
          </a:xfrm>
          <a:prstGeom prst="rect">
            <a:avLst/>
          </a:prstGeom>
          <a:noFill/>
          <a:ln/>
        </p:spPr>
        <p:txBody>
          <a:bodyPr wrap="square" lIns="0" tIns="0" rIns="0" bIns="0" rtlCol="0" anchor="ctr"/>
          <a:lstStyle/>
          <a:p>
            <a:pPr indent="0" marL="0">
              <a:buNone/>
            </a:pPr>
            <a:r>
              <a:rPr lang="en-US" sz="1400" b="1" dirty="0">
                <a:solidFill>
                  <a:schemeClr val="tx1"/>
                </a:solidFill>
              </a:rPr>
              <a:t>3. Cassandra</a:t>
            </a:r>
            <a:endParaRPr lang="en-US" sz="1400" dirty="0"/>
          </a:p>
        </p:txBody>
      </p:sp>
      <p:sp>
        <p:nvSpPr>
          <p:cNvPr id="19" name="step text 3"/>
          <p:cNvSpPr txBox="1"/>
          <p:nvPr/>
        </p:nvSpPr>
        <p:spPr>
          <a:xfrm>
            <a:off x="4005072" y="2212848"/>
            <a:ext cx="1188720" cy="640080"/>
          </a:xfrm>
          <a:prstGeom prst="rect">
            <a:avLst/>
          </a:prstGeom>
          <a:noFill/>
          <a:ln/>
        </p:spPr>
        <p:txBody>
          <a:bodyPr wrap="square" lIns="0" tIns="0" rIns="0" bIns="0" rtlCol="0" anchor="t"/>
          <a:lstStyle/>
          <a:p>
            <a:pPr indent="0" marL="0">
              <a:buNone/>
            </a:pPr>
            <a:r>
              <a:rPr lang="en-US" sz="1100" dirty="0">
                <a:solidFill>
                  <a:schemeClr val="tx2"/>
                </a:solidFill>
              </a:rPr>
              <a:t>Cleaned rows saved in the main table</a:t>
            </a:r>
            <a:endParaRPr lang="en-US" sz="1100" dirty="0"/>
          </a:p>
        </p:txBody>
      </p:sp>
      <p:sp>
        <p:nvSpPr>
          <p:cNvPr id="20" name="arrow 3"/>
          <p:cNvSpPr/>
          <p:nvPr/>
        </p:nvSpPr>
        <p:spPr>
          <a:xfrm>
            <a:off x="5340096" y="2011680"/>
            <a:ext cx="155448" cy="0"/>
          </a:xfrm>
          <a:prstGeom prst="line">
            <a:avLst/>
          </a:prstGeom>
          <a:noFill/>
          <a:ln w="19050">
            <a:solidFill>
              <a:srgbClr val="E11D48"/>
            </a:solidFill>
            <a:prstDash val="solid"/>
            <a:tailEnd type="triangle"/>
          </a:ln>
        </p:spPr>
      </p:sp>
      <p:sp>
        <p:nvSpPr>
          <p:cNvPr id="21" name="step box 4"/>
          <p:cNvSpPr/>
          <p:nvPr/>
        </p:nvSpPr>
        <p:spPr>
          <a:xfrm>
            <a:off x="5532120" y="1097280"/>
            <a:ext cx="1463040" cy="1828800"/>
          </a:xfrm>
          <a:prstGeom prst="roundRect">
            <a:avLst>
              <a:gd name="adj" fmla="val 7500"/>
            </a:avLst>
          </a:prstGeom>
          <a:solidFill>
            <a:schemeClr val="bg2"/>
          </a:solidFill>
          <a:ln w="12700">
            <a:solidFill>
              <a:srgbClr val="F6CFD8"/>
            </a:solidFill>
            <a:prstDash val="solid"/>
          </a:ln>
        </p:spPr>
      </p:sp>
      <p:sp>
        <p:nvSpPr>
          <p:cNvPr id="22" name="step 4 circle"/>
          <p:cNvSpPr/>
          <p:nvPr/>
        </p:nvSpPr>
        <p:spPr>
          <a:xfrm>
            <a:off x="5696712" y="1280160"/>
            <a:ext cx="502920" cy="502920"/>
          </a:xfrm>
          <a:prstGeom prst="ellipse">
            <a:avLst/>
          </a:prstGeom>
          <a:solidFill>
            <a:schemeClr val="accent1"/>
          </a:solidFill>
          <a:ln/>
        </p:spPr>
      </p:sp>
      <p:pic>
        <p:nvPicPr>
          <p:cNvPr id="23" name="step 4 icon" descr="preencoded.png">    </p:cNvPr>
          <p:cNvPicPr>
            <a:picLocks noChangeAspect="1"/>
          </p:cNvPicPr>
          <p:nvPr/>
        </p:nvPicPr>
        <p:blipFill>
          <a:blip r:embed="rId4"/>
          <a:stretch>
            <a:fillRect/>
          </a:stretch>
        </p:blipFill>
        <p:spPr>
          <a:xfrm>
            <a:off x="5832500" y="1415948"/>
            <a:ext cx="231343" cy="231343"/>
          </a:xfrm>
          <a:prstGeom prst="rect">
            <a:avLst/>
          </a:prstGeom>
        </p:spPr>
      </p:pic>
      <p:sp>
        <p:nvSpPr>
          <p:cNvPr id="24" name="step title 4"/>
          <p:cNvSpPr txBox="1"/>
          <p:nvPr/>
        </p:nvSpPr>
        <p:spPr>
          <a:xfrm>
            <a:off x="5696712" y="1874520"/>
            <a:ext cx="1188720" cy="320040"/>
          </a:xfrm>
          <a:prstGeom prst="rect">
            <a:avLst/>
          </a:prstGeom>
          <a:noFill/>
          <a:ln/>
        </p:spPr>
        <p:txBody>
          <a:bodyPr wrap="square" lIns="0" tIns="0" rIns="0" bIns="0" rtlCol="0" anchor="ctr"/>
          <a:lstStyle/>
          <a:p>
            <a:pPr indent="0" marL="0">
              <a:buNone/>
            </a:pPr>
            <a:r>
              <a:rPr lang="en-US" sz="1400" b="1" dirty="0">
                <a:solidFill>
                  <a:schemeClr val="tx1"/>
                </a:solidFill>
              </a:rPr>
              <a:t>4. Spark SQL</a:t>
            </a:r>
            <a:endParaRPr lang="en-US" sz="1400" dirty="0"/>
          </a:p>
        </p:txBody>
      </p:sp>
      <p:sp>
        <p:nvSpPr>
          <p:cNvPr id="25" name="step text 4"/>
          <p:cNvSpPr txBox="1"/>
          <p:nvPr/>
        </p:nvSpPr>
        <p:spPr>
          <a:xfrm>
            <a:off x="5696712" y="2212848"/>
            <a:ext cx="1188720" cy="640080"/>
          </a:xfrm>
          <a:prstGeom prst="rect">
            <a:avLst/>
          </a:prstGeom>
          <a:noFill/>
          <a:ln/>
        </p:spPr>
        <p:txBody>
          <a:bodyPr wrap="square" lIns="0" tIns="0" rIns="0" bIns="0" rtlCol="0" anchor="t"/>
          <a:lstStyle/>
          <a:p>
            <a:pPr indent="0" marL="0">
              <a:buNone/>
            </a:pPr>
            <a:r>
              <a:rPr lang="en-US" sz="1100" dirty="0">
                <a:solidFill>
                  <a:schemeClr val="tx2"/>
                </a:solidFill>
              </a:rPr>
              <a:t>8 queries, results saved in 8 tables</a:t>
            </a:r>
            <a:endParaRPr lang="en-US" sz="1100" dirty="0"/>
          </a:p>
        </p:txBody>
      </p:sp>
      <p:sp>
        <p:nvSpPr>
          <p:cNvPr id="26" name="arrow 4"/>
          <p:cNvSpPr/>
          <p:nvPr/>
        </p:nvSpPr>
        <p:spPr>
          <a:xfrm>
            <a:off x="7031736" y="2011680"/>
            <a:ext cx="155448" cy="0"/>
          </a:xfrm>
          <a:prstGeom prst="line">
            <a:avLst/>
          </a:prstGeom>
          <a:noFill/>
          <a:ln w="19050">
            <a:solidFill>
              <a:srgbClr val="E11D48"/>
            </a:solidFill>
            <a:prstDash val="solid"/>
            <a:tailEnd type="triangle"/>
          </a:ln>
        </p:spPr>
      </p:sp>
      <p:sp>
        <p:nvSpPr>
          <p:cNvPr id="27" name="step box 5"/>
          <p:cNvSpPr/>
          <p:nvPr/>
        </p:nvSpPr>
        <p:spPr>
          <a:xfrm>
            <a:off x="7223760" y="1097280"/>
            <a:ext cx="1463040" cy="1828800"/>
          </a:xfrm>
          <a:prstGeom prst="roundRect">
            <a:avLst>
              <a:gd name="adj" fmla="val 7500"/>
            </a:avLst>
          </a:prstGeom>
          <a:solidFill>
            <a:schemeClr val="bg2"/>
          </a:solidFill>
          <a:ln w="12700">
            <a:solidFill>
              <a:srgbClr val="F6CFD8"/>
            </a:solidFill>
            <a:prstDash val="solid"/>
          </a:ln>
        </p:spPr>
      </p:sp>
      <p:sp>
        <p:nvSpPr>
          <p:cNvPr id="28" name="step 5 circle"/>
          <p:cNvSpPr/>
          <p:nvPr/>
        </p:nvSpPr>
        <p:spPr>
          <a:xfrm>
            <a:off x="7388352" y="1280160"/>
            <a:ext cx="502920" cy="502920"/>
          </a:xfrm>
          <a:prstGeom prst="ellipse">
            <a:avLst/>
          </a:prstGeom>
          <a:solidFill>
            <a:schemeClr val="accent1"/>
          </a:solidFill>
          <a:ln/>
        </p:spPr>
      </p:sp>
      <p:pic>
        <p:nvPicPr>
          <p:cNvPr id="29" name="step 5 icon" descr="preencoded.png">    </p:cNvPr>
          <p:cNvPicPr>
            <a:picLocks noChangeAspect="1"/>
          </p:cNvPicPr>
          <p:nvPr/>
        </p:nvPicPr>
        <p:blipFill>
          <a:blip r:embed="rId5"/>
          <a:stretch>
            <a:fillRect/>
          </a:stretch>
        </p:blipFill>
        <p:spPr>
          <a:xfrm>
            <a:off x="7524140" y="1415948"/>
            <a:ext cx="231343" cy="231343"/>
          </a:xfrm>
          <a:prstGeom prst="rect">
            <a:avLst/>
          </a:prstGeom>
        </p:spPr>
      </p:pic>
      <p:sp>
        <p:nvSpPr>
          <p:cNvPr id="30" name="step title 5"/>
          <p:cNvSpPr txBox="1"/>
          <p:nvPr/>
        </p:nvSpPr>
        <p:spPr>
          <a:xfrm>
            <a:off x="7388352" y="1874520"/>
            <a:ext cx="1188720" cy="320040"/>
          </a:xfrm>
          <a:prstGeom prst="rect">
            <a:avLst/>
          </a:prstGeom>
          <a:noFill/>
          <a:ln/>
        </p:spPr>
        <p:txBody>
          <a:bodyPr wrap="square" lIns="0" tIns="0" rIns="0" bIns="0" rtlCol="0" anchor="ctr"/>
          <a:lstStyle/>
          <a:p>
            <a:pPr indent="0" marL="0">
              <a:buNone/>
            </a:pPr>
            <a:r>
              <a:rPr lang="en-US" sz="1400" b="1" dirty="0">
                <a:solidFill>
                  <a:schemeClr val="tx1"/>
                </a:solidFill>
              </a:rPr>
              <a:t>5. Streamlit</a:t>
            </a:r>
            <a:endParaRPr lang="en-US" sz="1400" dirty="0"/>
          </a:p>
        </p:txBody>
      </p:sp>
      <p:sp>
        <p:nvSpPr>
          <p:cNvPr id="31" name="step text 5"/>
          <p:cNvSpPr txBox="1"/>
          <p:nvPr/>
        </p:nvSpPr>
        <p:spPr>
          <a:xfrm>
            <a:off x="7388352" y="2212848"/>
            <a:ext cx="1188720" cy="640080"/>
          </a:xfrm>
          <a:prstGeom prst="rect">
            <a:avLst/>
          </a:prstGeom>
          <a:noFill/>
          <a:ln/>
        </p:spPr>
        <p:txBody>
          <a:bodyPr wrap="square" lIns="0" tIns="0" rIns="0" bIns="0" rtlCol="0" anchor="t"/>
          <a:lstStyle/>
          <a:p>
            <a:pPr indent="0" marL="0">
              <a:buNone/>
            </a:pPr>
            <a:r>
              <a:rPr lang="en-US" sz="1100" dirty="0">
                <a:solidFill>
                  <a:schemeClr val="tx2"/>
                </a:solidFill>
              </a:rPr>
              <a:t>Dashboard reads Cassandra and shows charts</a:t>
            </a:r>
            <a:endParaRPr lang="en-US" sz="1100" dirty="0"/>
          </a:p>
        </p:txBody>
      </p:sp>
      <p:sp>
        <p:nvSpPr>
          <p:cNvPr id="32" name="design card"/>
          <p:cNvSpPr/>
          <p:nvPr/>
        </p:nvSpPr>
        <p:spPr>
          <a:xfrm>
            <a:off x="457200" y="3200400"/>
            <a:ext cx="4023360" cy="1325880"/>
          </a:xfrm>
          <a:prstGeom prst="roundRect">
            <a:avLst>
              <a:gd name="adj" fmla="val 8276"/>
            </a:avLst>
          </a:prstGeom>
          <a:solidFill>
            <a:schemeClr val="bg1"/>
          </a:solidFill>
          <a:ln w="12700">
            <a:solidFill>
              <a:srgbClr val="F6CFD8"/>
            </a:solidFill>
            <a:prstDash val="solid"/>
          </a:ln>
        </p:spPr>
      </p:sp>
      <p:sp>
        <p:nvSpPr>
          <p:cNvPr id="33" name="design heading"/>
          <p:cNvSpPr txBox="1"/>
          <p:nvPr/>
        </p:nvSpPr>
        <p:spPr>
          <a:xfrm>
            <a:off x="640080" y="3310128"/>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Cassandra primary key</a:t>
            </a:r>
            <a:endParaRPr lang="en-US" sz="1400" dirty="0"/>
          </a:p>
        </p:txBody>
      </p:sp>
      <p:sp>
        <p:nvSpPr>
          <p:cNvPr id="34" name="primary key"/>
          <p:cNvSpPr txBox="1"/>
          <p:nvPr/>
        </p:nvSpPr>
        <p:spPr>
          <a:xfrm>
            <a:off x="640080" y="3639312"/>
            <a:ext cx="3749040" cy="274320"/>
          </a:xfrm>
          <a:prstGeom prst="rect">
            <a:avLst/>
          </a:prstGeom>
          <a:noFill/>
          <a:ln/>
        </p:spPr>
        <p:txBody>
          <a:bodyPr wrap="square" lIns="0" tIns="0" rIns="0" bIns="0" rtlCol="0" anchor="ctr"/>
          <a:lstStyle/>
          <a:p>
            <a:pPr indent="0" marL="0">
              <a:buNone/>
            </a:pPr>
            <a:r>
              <a:rPr lang="en-US" sz="1100" b="1" dirty="0">
                <a:solidFill>
                  <a:schemeClr val="accent3"/>
                </a:solidFill>
                <a:latin typeface="Courier New" pitchFamily="34" charset="0"/>
                <a:ea typeface="Courier New" pitchFamily="34" charset="-122"/>
                <a:cs typeface="Courier New" pitchFamily="34" charset="-120"/>
              </a:rPr>
              <a:t>((country, trending_date), video_id)</a:t>
            </a:r>
            <a:endParaRPr lang="en-US" sz="1100" dirty="0"/>
          </a:p>
        </p:txBody>
      </p:sp>
      <p:sp>
        <p:nvSpPr>
          <p:cNvPr id="35" name="design text"/>
          <p:cNvSpPr txBox="1"/>
          <p:nvPr/>
        </p:nvSpPr>
        <p:spPr>
          <a:xfrm>
            <a:off x="640080" y="3950208"/>
            <a:ext cx="3657600" cy="502920"/>
          </a:xfrm>
          <a:prstGeom prst="rect">
            <a:avLst/>
          </a:prstGeom>
          <a:noFill/>
          <a:ln/>
        </p:spPr>
        <p:txBody>
          <a:bodyPr wrap="square" lIns="0" tIns="0" rIns="0" bIns="0" rtlCol="0" anchor="t"/>
          <a:lstStyle/>
          <a:p>
            <a:pPr indent="0" marL="0">
              <a:buNone/>
            </a:pPr>
            <a:r>
              <a:rPr lang="en-US" sz="1100" dirty="0">
                <a:solidFill>
                  <a:schemeClr val="tx2"/>
                </a:solidFill>
              </a:rPr>
              <a:t>One country's list for one day sits in one partition, so the date search reads only that partition.</a:t>
            </a:r>
            <a:endParaRPr lang="en-US" sz="1100" dirty="0"/>
          </a:p>
        </p:txBody>
      </p:sp>
      <p:sp>
        <p:nvSpPr>
          <p:cNvPr id="36" name="tools card"/>
          <p:cNvSpPr/>
          <p:nvPr/>
        </p:nvSpPr>
        <p:spPr>
          <a:xfrm>
            <a:off x="4663440" y="3200400"/>
            <a:ext cx="4023360" cy="1325880"/>
          </a:xfrm>
          <a:prstGeom prst="roundRect">
            <a:avLst>
              <a:gd name="adj" fmla="val 8276"/>
            </a:avLst>
          </a:prstGeom>
          <a:solidFill>
            <a:schemeClr val="bg1"/>
          </a:solidFill>
          <a:ln w="12700">
            <a:solidFill>
              <a:srgbClr val="F6CFD8"/>
            </a:solidFill>
            <a:prstDash val="solid"/>
          </a:ln>
        </p:spPr>
      </p:sp>
      <p:sp>
        <p:nvSpPr>
          <p:cNvPr id="37" name="tools heading"/>
          <p:cNvSpPr txBox="1"/>
          <p:nvPr/>
        </p:nvSpPr>
        <p:spPr>
          <a:xfrm>
            <a:off x="4846320" y="3310128"/>
            <a:ext cx="3657600" cy="274320"/>
          </a:xfrm>
          <a:prstGeom prst="rect">
            <a:avLst/>
          </a:prstGeom>
          <a:noFill/>
          <a:ln/>
        </p:spPr>
        <p:txBody>
          <a:bodyPr wrap="square" lIns="0" tIns="0" rIns="0" bIns="0" rtlCol="0" anchor="ctr"/>
          <a:lstStyle/>
          <a:p>
            <a:pPr indent="0" marL="0">
              <a:buNone/>
            </a:pPr>
            <a:r>
              <a:rPr lang="en-US" sz="1400" b="1" dirty="0">
                <a:solidFill>
                  <a:schemeClr val="tx1"/>
                </a:solidFill>
              </a:rPr>
              <a:t>Tools used</a:t>
            </a:r>
            <a:endParaRPr lang="en-US" sz="1400" dirty="0"/>
          </a:p>
        </p:txBody>
      </p:sp>
      <p:sp>
        <p:nvSpPr>
          <p:cNvPr id="38" name="tools list"/>
          <p:cNvSpPr txBox="1"/>
          <p:nvPr/>
        </p:nvSpPr>
        <p:spPr>
          <a:xfrm>
            <a:off x="4846320" y="3639312"/>
            <a:ext cx="3749040" cy="822960"/>
          </a:xfrm>
          <a:prstGeom prst="rect">
            <a:avLst/>
          </a:prstGeom>
          <a:noFill/>
          <a:ln/>
        </p:spPr>
        <p:txBody>
          <a:bodyPr wrap="square" lIns="0" tIns="0" rIns="0" bIns="0" rtlCol="0" anchor="t"/>
          <a:lstStyle/>
          <a:p>
            <a:pPr marL="342900" indent="-342900">
              <a:spcAft>
                <a:spcPts val="200"/>
              </a:spcAft>
              <a:buSzPct val="100000"/>
              <a:buChar char="•"/>
            </a:pPr>
            <a:r>
              <a:rPr lang="en-US" sz="1100" dirty="0">
                <a:solidFill>
                  <a:schemeClr val="tx2"/>
                </a:solidFill>
              </a:rPr>
              <a:t>PySpark 3.5.3 and Spark SQL</a:t>
            </a:r>
            <a:endParaRPr lang="en-US" sz="1100" dirty="0"/>
          </a:p>
          <a:p>
            <a:pPr marL="342900" indent="-342900">
              <a:spcAft>
                <a:spcPts val="200"/>
              </a:spcAft>
              <a:buSzPct val="100000"/>
              <a:buChar char="•"/>
            </a:pPr>
            <a:r>
              <a:rPr lang="en-US" sz="1100" dirty="0">
                <a:solidFill>
                  <a:schemeClr val="tx2"/>
                </a:solidFill>
              </a:rPr>
              <a:t>Cassandra 4.1.5 + Spark Cassandra Connector 3.5.1</a:t>
            </a:r>
            <a:endParaRPr lang="en-US" sz="1100" dirty="0"/>
          </a:p>
          <a:p>
            <a:pPr marL="342900" indent="-342900">
              <a:spcAft>
                <a:spcPts val="200"/>
              </a:spcAft>
              <a:buSzPct val="100000"/>
              <a:buChar char="•"/>
            </a:pPr>
            <a:r>
              <a:rPr lang="en-US" sz="1100" dirty="0">
                <a:solidFill>
                  <a:schemeClr val="tx2"/>
                </a:solidFill>
              </a:rPr>
              <a:t>Streamlit + Plotly, all on Google Colab</a:t>
            </a:r>
            <a:endParaRPr lang="en-US" sz="11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What we found</a:t>
            </a:r>
            <a:endParaRPr lang="en-US" sz="3000" dirty="0"/>
          </a:p>
        </p:txBody>
      </p:sp>
      <p:sp>
        <p:nvSpPr>
          <p:cNvPr id="3" name="chart card"/>
          <p:cNvSpPr/>
          <p:nvPr/>
        </p:nvSpPr>
        <p:spPr>
          <a:xfrm>
            <a:off x="457200" y="1051560"/>
            <a:ext cx="4114800" cy="3474720"/>
          </a:xfrm>
          <a:prstGeom prst="roundRect">
            <a:avLst>
              <a:gd name="adj" fmla="val 3158"/>
            </a:avLst>
          </a:prstGeom>
          <a:solidFill>
            <a:schemeClr val="bg1"/>
          </a:solidFill>
          <a:ln w="12700">
            <a:solidFill>
              <a:srgbClr val="F6CFD8"/>
            </a:solidFill>
            <a:prstDash val="solid"/>
          </a:ln>
        </p:spPr>
      </p:sp>
      <p:graphicFrame>
        <p:nvGraphicFramePr>
          <p:cNvPr id="4" name="days on trending chart" descr=""/>
          <p:cNvGraphicFramePr/>
          <p:nvPr/>
        </p:nvGraphicFramePr>
        <p:xfrm>
          <a:off x="594360" y="1143000"/>
          <a:ext cx="3840480" cy="3291840"/>
        </p:xfrm>
        <a:graphic xmlns:a="http://schemas.openxmlformats.org/drawingml/2006/main">
          <a:graphicData uri="http://schemas.openxmlformats.org/drawingml/2006/chart">
            <c:chart xmlns:c="http://schemas.openxmlformats.org/drawingml/2006/chart" r:id="rId1"/>
          </a:graphicData>
        </a:graphic>
      </p:graphicFrame>
      <p:sp>
        <p:nvSpPr>
          <p:cNvPr id="5" name="finding box 1"/>
          <p:cNvSpPr/>
          <p:nvPr/>
        </p:nvSpPr>
        <p:spPr>
          <a:xfrm>
            <a:off x="4800600" y="1051560"/>
            <a:ext cx="1828800" cy="1645920"/>
          </a:xfrm>
          <a:prstGeom prst="roundRect">
            <a:avLst>
              <a:gd name="adj" fmla="val 6667"/>
            </a:avLst>
          </a:prstGeom>
          <a:solidFill>
            <a:schemeClr val="accent4"/>
          </a:solidFill>
          <a:ln/>
        </p:spPr>
      </p:sp>
      <p:sp>
        <p:nvSpPr>
          <p:cNvPr id="6" name="finding number 1"/>
          <p:cNvSpPr txBox="1"/>
          <p:nvPr/>
        </p:nvSpPr>
        <p:spPr>
          <a:xfrm>
            <a:off x="4946904" y="1188720"/>
            <a:ext cx="1600200" cy="457200"/>
          </a:xfrm>
          <a:prstGeom prst="rect">
            <a:avLst/>
          </a:prstGeom>
          <a:noFill/>
          <a:ln/>
        </p:spPr>
        <p:txBody>
          <a:bodyPr wrap="square" lIns="0" tIns="0" rIns="0" bIns="0" rtlCol="0" anchor="ctr"/>
          <a:lstStyle/>
          <a:p>
            <a:pPr indent="0" marL="0">
              <a:buNone/>
            </a:pPr>
            <a:r>
              <a:rPr lang="en-US" sz="2400" b="1" dirty="0">
                <a:solidFill>
                  <a:schemeClr val="accent1"/>
                </a:solidFill>
              </a:rPr>
              <a:t>74%</a:t>
            </a:r>
            <a:endParaRPr lang="en-US" sz="2400" dirty="0"/>
          </a:p>
        </p:txBody>
      </p:sp>
      <p:sp>
        <p:nvSpPr>
          <p:cNvPr id="7" name="finding text 1"/>
          <p:cNvSpPr txBox="1"/>
          <p:nvPr/>
        </p:nvSpPr>
        <p:spPr>
          <a:xfrm>
            <a:off x="4946904" y="1691640"/>
            <a:ext cx="1572768" cy="914400"/>
          </a:xfrm>
          <a:prstGeom prst="rect">
            <a:avLst/>
          </a:prstGeom>
          <a:noFill/>
          <a:ln/>
        </p:spPr>
        <p:txBody>
          <a:bodyPr wrap="square" lIns="0" tIns="0" rIns="0" bIns="0" rtlCol="0" anchor="t"/>
          <a:lstStyle/>
          <a:p>
            <a:pPr indent="0" marL="0">
              <a:buNone/>
            </a:pPr>
            <a:r>
              <a:rPr lang="en-US" sz="1150" dirty="0">
                <a:solidFill>
                  <a:schemeClr val="tx1"/>
                </a:solidFill>
              </a:rPr>
              <a:t>of Indian videos reached trending within 1 day of upload</a:t>
            </a:r>
            <a:endParaRPr lang="en-US" sz="1150" dirty="0"/>
          </a:p>
        </p:txBody>
      </p:sp>
      <p:sp>
        <p:nvSpPr>
          <p:cNvPr id="8" name="finding box 2"/>
          <p:cNvSpPr/>
          <p:nvPr/>
        </p:nvSpPr>
        <p:spPr>
          <a:xfrm>
            <a:off x="6766560" y="1051560"/>
            <a:ext cx="1828800" cy="1645920"/>
          </a:xfrm>
          <a:prstGeom prst="roundRect">
            <a:avLst>
              <a:gd name="adj" fmla="val 6667"/>
            </a:avLst>
          </a:prstGeom>
          <a:solidFill>
            <a:schemeClr val="bg2"/>
          </a:solidFill>
          <a:ln/>
        </p:spPr>
      </p:sp>
      <p:sp>
        <p:nvSpPr>
          <p:cNvPr id="9" name="finding number 2"/>
          <p:cNvSpPr txBox="1"/>
          <p:nvPr/>
        </p:nvSpPr>
        <p:spPr>
          <a:xfrm>
            <a:off x="6912864" y="1188720"/>
            <a:ext cx="1600200" cy="457200"/>
          </a:xfrm>
          <a:prstGeom prst="rect">
            <a:avLst/>
          </a:prstGeom>
          <a:noFill/>
          <a:ln/>
        </p:spPr>
        <p:txBody>
          <a:bodyPr wrap="square" lIns="0" tIns="0" rIns="0" bIns="0" rtlCol="0" anchor="ctr"/>
          <a:lstStyle/>
          <a:p>
            <a:pPr indent="0" marL="0">
              <a:buNone/>
            </a:pPr>
            <a:r>
              <a:rPr lang="en-US" sz="2400" b="1" dirty="0">
                <a:solidFill>
                  <a:schemeClr val="accent1"/>
                </a:solidFill>
              </a:rPr>
              <a:t>11.8 days</a:t>
            </a:r>
            <a:endParaRPr lang="en-US" sz="2400" dirty="0"/>
          </a:p>
        </p:txBody>
      </p:sp>
      <p:sp>
        <p:nvSpPr>
          <p:cNvPr id="10" name="finding text 2"/>
          <p:cNvSpPr txBox="1"/>
          <p:nvPr/>
        </p:nvSpPr>
        <p:spPr>
          <a:xfrm>
            <a:off x="6912864" y="1691640"/>
            <a:ext cx="1572768" cy="914400"/>
          </a:xfrm>
          <a:prstGeom prst="rect">
            <a:avLst/>
          </a:prstGeom>
          <a:noFill/>
          <a:ln/>
        </p:spPr>
        <p:txBody>
          <a:bodyPr wrap="square" lIns="0" tIns="0" rIns="0" bIns="0" rtlCol="0" anchor="t"/>
          <a:lstStyle/>
          <a:p>
            <a:pPr indent="0" marL="0">
              <a:buNone/>
            </a:pPr>
            <a:r>
              <a:rPr lang="en-US" sz="1150" dirty="0">
                <a:solidFill>
                  <a:schemeClr val="tx1"/>
                </a:solidFill>
              </a:rPr>
              <a:t>average stay on the list in Great Britain, vs 2 days in India</a:t>
            </a:r>
            <a:endParaRPr lang="en-US" sz="1150" dirty="0"/>
          </a:p>
        </p:txBody>
      </p:sp>
      <p:sp>
        <p:nvSpPr>
          <p:cNvPr id="11" name="finding box 3"/>
          <p:cNvSpPr/>
          <p:nvPr/>
        </p:nvSpPr>
        <p:spPr>
          <a:xfrm>
            <a:off x="4800600" y="2834640"/>
            <a:ext cx="1828800" cy="1645920"/>
          </a:xfrm>
          <a:prstGeom prst="roundRect">
            <a:avLst>
              <a:gd name="adj" fmla="val 6667"/>
            </a:avLst>
          </a:prstGeom>
          <a:solidFill>
            <a:schemeClr val="bg2"/>
          </a:solidFill>
          <a:ln/>
        </p:spPr>
      </p:sp>
      <p:sp>
        <p:nvSpPr>
          <p:cNvPr id="12" name="finding number 3"/>
          <p:cNvSpPr txBox="1"/>
          <p:nvPr/>
        </p:nvSpPr>
        <p:spPr>
          <a:xfrm>
            <a:off x="4946904" y="2971800"/>
            <a:ext cx="1600200" cy="457200"/>
          </a:xfrm>
          <a:prstGeom prst="rect">
            <a:avLst/>
          </a:prstGeom>
          <a:noFill/>
          <a:ln/>
        </p:spPr>
        <p:txBody>
          <a:bodyPr wrap="square" lIns="0" tIns="0" rIns="0" bIns="0" rtlCol="0" anchor="ctr"/>
          <a:lstStyle/>
          <a:p>
            <a:pPr indent="0" marL="0">
              <a:buNone/>
            </a:pPr>
            <a:r>
              <a:rPr lang="en-US" sz="2400" b="1" dirty="0">
                <a:solidFill>
                  <a:schemeClr val="accent1"/>
                </a:solidFill>
              </a:rPr>
              <a:t>77 videos</a:t>
            </a:r>
            <a:endParaRPr lang="en-US" sz="2400" dirty="0"/>
          </a:p>
        </p:txBody>
      </p:sp>
      <p:sp>
        <p:nvSpPr>
          <p:cNvPr id="13" name="finding text 3"/>
          <p:cNvSpPr txBox="1"/>
          <p:nvPr/>
        </p:nvSpPr>
        <p:spPr>
          <a:xfrm>
            <a:off x="4946904" y="3474720"/>
            <a:ext cx="1572768" cy="914400"/>
          </a:xfrm>
          <a:prstGeom prst="rect">
            <a:avLst/>
          </a:prstGeom>
          <a:noFill/>
          <a:ln/>
        </p:spPr>
        <p:txBody>
          <a:bodyPr wrap="square" lIns="0" tIns="0" rIns="0" bIns="0" rtlCol="0" anchor="t"/>
          <a:lstStyle/>
          <a:p>
            <a:pPr indent="0" marL="0">
              <a:buNone/>
            </a:pPr>
            <a:r>
              <a:rPr lang="en-US" sz="1150" dirty="0">
                <a:solidFill>
                  <a:schemeClr val="tx1"/>
                </a:solidFill>
              </a:rPr>
              <a:t>trended in all four countries, like Ed Sheeran's "Perfect"</a:t>
            </a:r>
            <a:endParaRPr lang="en-US" sz="1150" dirty="0"/>
          </a:p>
        </p:txBody>
      </p:sp>
      <p:sp>
        <p:nvSpPr>
          <p:cNvPr id="14" name="finding box 4"/>
          <p:cNvSpPr/>
          <p:nvPr/>
        </p:nvSpPr>
        <p:spPr>
          <a:xfrm>
            <a:off x="6766560" y="2834640"/>
            <a:ext cx="1828800" cy="1645920"/>
          </a:xfrm>
          <a:prstGeom prst="roundRect">
            <a:avLst>
              <a:gd name="adj" fmla="val 6667"/>
            </a:avLst>
          </a:prstGeom>
          <a:solidFill>
            <a:schemeClr val="accent4"/>
          </a:solidFill>
          <a:ln/>
        </p:spPr>
      </p:sp>
      <p:sp>
        <p:nvSpPr>
          <p:cNvPr id="15" name="finding number 4"/>
          <p:cNvSpPr txBox="1"/>
          <p:nvPr/>
        </p:nvSpPr>
        <p:spPr>
          <a:xfrm>
            <a:off x="6912864" y="2971800"/>
            <a:ext cx="1600200" cy="457200"/>
          </a:xfrm>
          <a:prstGeom prst="rect">
            <a:avLst/>
          </a:prstGeom>
          <a:noFill/>
          <a:ln/>
        </p:spPr>
        <p:txBody>
          <a:bodyPr wrap="square" lIns="0" tIns="0" rIns="0" bIns="0" rtlCol="0" anchor="ctr"/>
          <a:lstStyle/>
          <a:p>
            <a:pPr indent="0" marL="0">
              <a:buNone/>
            </a:pPr>
            <a:r>
              <a:rPr lang="en-US" sz="1800" b="1" dirty="0">
                <a:solidFill>
                  <a:schemeClr val="accent1"/>
                </a:solidFill>
              </a:rPr>
              <a:t>Entertainment</a:t>
            </a:r>
            <a:endParaRPr lang="en-US" sz="1800" dirty="0"/>
          </a:p>
        </p:txBody>
      </p:sp>
      <p:sp>
        <p:nvSpPr>
          <p:cNvPr id="16" name="finding text 4"/>
          <p:cNvSpPr txBox="1"/>
          <p:nvPr/>
        </p:nvSpPr>
        <p:spPr>
          <a:xfrm>
            <a:off x="6912864" y="3474720"/>
            <a:ext cx="1572768" cy="914400"/>
          </a:xfrm>
          <a:prstGeom prst="rect">
            <a:avLst/>
          </a:prstGeom>
          <a:noFill/>
          <a:ln/>
        </p:spPr>
        <p:txBody>
          <a:bodyPr wrap="square" lIns="0" tIns="0" rIns="0" bIns="0" rtlCol="0" anchor="t"/>
          <a:lstStyle/>
          <a:p>
            <a:pPr indent="0" marL="0">
              <a:buNone/>
            </a:pPr>
            <a:r>
              <a:rPr lang="en-US" sz="1150" dirty="0">
                <a:solidFill>
                  <a:schemeClr val="tx1"/>
                </a:solidFill>
              </a:rPr>
              <a:t>is the top category in India, USA and Canada. Music leads in Great Britain</a:t>
            </a:r>
            <a:endParaRPr lang="en-US" sz="115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640080"/>
          </a:xfrm>
          <a:prstGeom prst="rect">
            <a:avLst/>
          </a:prstGeom>
          <a:noFill/>
          <a:ln/>
        </p:spPr>
        <p:txBody>
          <a:bodyPr wrap="square" lIns="0" tIns="0" rIns="0" bIns="0" rtlCol="0" anchor="ctr"/>
          <a:lstStyle/>
          <a:p>
            <a:pPr algn="l" indent="0" marL="0">
              <a:buNone/>
            </a:pPr>
            <a:r>
              <a:rPr lang="en-US" sz="3000" b="1" dirty="0">
                <a:solidFill>
                  <a:schemeClr val="tx1"/>
                </a:solidFill>
              </a:rPr>
              <a:t>Dashboard and conclusion</a:t>
            </a:r>
            <a:endParaRPr lang="en-US" sz="3000" dirty="0"/>
          </a:p>
        </p:txBody>
      </p:sp>
      <p:sp>
        <p:nvSpPr>
          <p:cNvPr id="3" name="dashboard screenshot frame"/>
          <p:cNvSpPr/>
          <p:nvPr/>
        </p:nvSpPr>
        <p:spPr>
          <a:xfrm>
            <a:off x="475488" y="1115568"/>
            <a:ext cx="4718304" cy="3003804"/>
          </a:xfrm>
          <a:prstGeom prst="roundRect">
            <a:avLst>
              <a:gd name="adj" fmla="val 3044"/>
            </a:avLst>
          </a:prstGeom>
          <a:solidFill>
            <a:schemeClr val="bg1"/>
          </a:solidFill>
          <a:ln w="12700">
            <a:solidFill>
              <a:srgbClr val="F6CFD8"/>
            </a:solidFill>
            <a:prstDash val="solid"/>
          </a:ln>
          <a:effectLst>
            <a:outerShdw sx="100000" sy="100000" kx="0" ky="0" algn="bl" rotWithShape="0" blurRad="152400" dist="38100" dir="5400000">
              <a:srgbClr val="9F1239">
                <a:alpha val="18000"/>
              </a:srgbClr>
            </a:outerShdw>
          </a:effectLst>
        </p:spPr>
      </p:sp>
      <p:pic>
        <p:nvPicPr>
          <p:cNvPr id="4" name="dashboard screenshot" descr="/home/claude/work/fig/dash_overview.png">    </p:cNvPr>
          <p:cNvPicPr>
            <a:picLocks noChangeAspect="1"/>
          </p:cNvPicPr>
          <p:nvPr/>
        </p:nvPicPr>
        <p:blipFill>
          <a:blip r:embed="rId1"/>
          <a:stretch>
            <a:fillRect/>
          </a:stretch>
        </p:blipFill>
        <p:spPr>
          <a:xfrm>
            <a:off x="548640" y="1188720"/>
            <a:ext cx="4572000" cy="2857500"/>
          </a:xfrm>
          <a:prstGeom prst="rect">
            <a:avLst/>
          </a:prstGeom>
        </p:spPr>
      </p:pic>
      <p:sp>
        <p:nvSpPr>
          <p:cNvPr id="5" name="screenshot caption"/>
          <p:cNvSpPr txBox="1"/>
          <p:nvPr/>
        </p:nvSpPr>
        <p:spPr>
          <a:xfrm>
            <a:off x="457200" y="4224528"/>
            <a:ext cx="4754880" cy="274320"/>
          </a:xfrm>
          <a:prstGeom prst="rect">
            <a:avLst/>
          </a:prstGeom>
          <a:noFill/>
          <a:ln/>
        </p:spPr>
        <p:txBody>
          <a:bodyPr wrap="square" lIns="0" tIns="0" rIns="0" bIns="0" rtlCol="0" anchor="ctr"/>
          <a:lstStyle/>
          <a:p>
            <a:pPr algn="ctr" indent="0" marL="0">
              <a:buNone/>
            </a:pPr>
            <a:r>
              <a:rPr lang="en-US" sz="1000" i="1" dirty="0">
                <a:solidFill>
                  <a:schemeClr val="tx2"/>
                </a:solidFill>
              </a:rPr>
              <a:t>Streamlit dashboard reading live from Cassandra</a:t>
            </a:r>
            <a:endParaRPr lang="en-US" sz="1000" dirty="0"/>
          </a:p>
        </p:txBody>
      </p:sp>
      <p:sp>
        <p:nvSpPr>
          <p:cNvPr id="6" name="dashboard heading"/>
          <p:cNvSpPr txBox="1"/>
          <p:nvPr/>
        </p:nvSpPr>
        <p:spPr>
          <a:xfrm>
            <a:off x="5577840" y="1097280"/>
            <a:ext cx="3108960" cy="292608"/>
          </a:xfrm>
          <a:prstGeom prst="rect">
            <a:avLst/>
          </a:prstGeom>
          <a:noFill/>
          <a:ln/>
        </p:spPr>
        <p:txBody>
          <a:bodyPr wrap="square" lIns="0" tIns="0" rIns="0" bIns="0" rtlCol="0" anchor="ctr"/>
          <a:lstStyle/>
          <a:p>
            <a:pPr indent="0" marL="0">
              <a:buNone/>
            </a:pPr>
            <a:r>
              <a:rPr lang="en-US" sz="1500" b="1" dirty="0">
                <a:solidFill>
                  <a:schemeClr val="tx1"/>
                </a:solidFill>
              </a:rPr>
              <a:t>The dashboard</a:t>
            </a:r>
            <a:endParaRPr lang="en-US" sz="1500" dirty="0"/>
          </a:p>
        </p:txBody>
      </p:sp>
      <p:sp>
        <p:nvSpPr>
          <p:cNvPr id="7" name="dashboard points"/>
          <p:cNvSpPr txBox="1"/>
          <p:nvPr/>
        </p:nvSpPr>
        <p:spPr>
          <a:xfrm>
            <a:off x="5577840" y="1444752"/>
            <a:ext cx="3108960" cy="1051560"/>
          </a:xfrm>
          <a:prstGeom prst="rect">
            <a:avLst/>
          </a:prstGeom>
          <a:noFill/>
          <a:ln/>
        </p:spPr>
        <p:txBody>
          <a:bodyPr wrap="square" lIns="0" tIns="0" rIns="0" bIns="0" rtlCol="0" anchor="t"/>
          <a:lstStyle/>
          <a:p>
            <a:pPr marL="342900" indent="-342900">
              <a:spcAft>
                <a:spcPts val="400"/>
              </a:spcAft>
              <a:buSzPct val="100000"/>
              <a:buChar char="•"/>
            </a:pPr>
            <a:r>
              <a:rPr lang="en-US" sz="1200" dirty="0">
                <a:solidFill>
                  <a:schemeClr val="tx1"/>
                </a:solidFill>
              </a:rPr>
              <a:t>Pick a country: 4 key numbers, charts and an upload heatmap</a:t>
            </a:r>
            <a:endParaRPr lang="en-US" sz="1200" dirty="0"/>
          </a:p>
          <a:p>
            <a:pPr marL="342900" indent="-342900">
              <a:spcAft>
                <a:spcPts val="400"/>
              </a:spcAft>
              <a:buSzPct val="100000"/>
              <a:buChar char="•"/>
            </a:pPr>
            <a:r>
              <a:rPr lang="en-US" sz="1200" dirty="0">
                <a:solidFill>
                  <a:schemeClr val="tx1"/>
                </a:solidFill>
              </a:rPr>
              <a:t>Pick a date: see what was trending that day with a live CQL query</a:t>
            </a:r>
            <a:endParaRPr lang="en-US" sz="1200" dirty="0"/>
          </a:p>
        </p:txBody>
      </p:sp>
      <p:sp>
        <p:nvSpPr>
          <p:cNvPr id="8" name="conclusion heading"/>
          <p:cNvSpPr txBox="1"/>
          <p:nvPr/>
        </p:nvSpPr>
        <p:spPr>
          <a:xfrm>
            <a:off x="5577840" y="2560320"/>
            <a:ext cx="3108960" cy="292608"/>
          </a:xfrm>
          <a:prstGeom prst="rect">
            <a:avLst/>
          </a:prstGeom>
          <a:noFill/>
          <a:ln/>
        </p:spPr>
        <p:txBody>
          <a:bodyPr wrap="square" lIns="0" tIns="0" rIns="0" bIns="0" rtlCol="0" anchor="ctr"/>
          <a:lstStyle/>
          <a:p>
            <a:pPr indent="0" marL="0">
              <a:buNone/>
            </a:pPr>
            <a:r>
              <a:rPr lang="en-US" sz="1500" b="1" dirty="0">
                <a:solidFill>
                  <a:schemeClr val="tx1"/>
                </a:solidFill>
              </a:rPr>
              <a:t>Conclusion</a:t>
            </a:r>
            <a:endParaRPr lang="en-US" sz="1500" dirty="0"/>
          </a:p>
        </p:txBody>
      </p:sp>
      <p:sp>
        <p:nvSpPr>
          <p:cNvPr id="9" name="conclusion text"/>
          <p:cNvSpPr txBox="1"/>
          <p:nvPr/>
        </p:nvSpPr>
        <p:spPr>
          <a:xfrm>
            <a:off x="5577840" y="2889504"/>
            <a:ext cx="3108960" cy="868680"/>
          </a:xfrm>
          <a:prstGeom prst="rect">
            <a:avLst/>
          </a:prstGeom>
          <a:noFill/>
          <a:ln/>
        </p:spPr>
        <p:txBody>
          <a:bodyPr wrap="square" lIns="0" tIns="0" rIns="0" bIns="0" rtlCol="0" anchor="t"/>
          <a:lstStyle/>
          <a:p>
            <a:pPr indent="0" marL="0">
              <a:buNone/>
            </a:pPr>
            <a:r>
              <a:rPr lang="en-US" sz="1200" dirty="0">
                <a:solidFill>
                  <a:schemeClr val="tx1"/>
                </a:solidFill>
              </a:rPr>
              <a:t>Spark cleaned 158,098 rows to 152,794 and Cassandra stored the data and all results. The whole pipeline runs on Google Colab.</a:t>
            </a:r>
            <a:endParaRPr lang="en-US" sz="1200" dirty="0"/>
          </a:p>
        </p:txBody>
      </p:sp>
      <p:sp>
        <p:nvSpPr>
          <p:cNvPr id="10" name="thank you pill"/>
          <p:cNvSpPr/>
          <p:nvPr/>
        </p:nvSpPr>
        <p:spPr>
          <a:xfrm>
            <a:off x="5577840" y="3794760"/>
            <a:ext cx="1737360" cy="457200"/>
          </a:xfrm>
          <a:prstGeom prst="roundRect">
            <a:avLst>
              <a:gd name="adj" fmla="val 50000"/>
            </a:avLst>
          </a:prstGeom>
          <a:solidFill>
            <a:schemeClr val="accent1"/>
          </a:solidFill>
          <a:ln/>
        </p:spPr>
      </p:sp>
      <p:sp>
        <p:nvSpPr>
          <p:cNvPr id="11" name="thank you"/>
          <p:cNvSpPr txBox="1"/>
          <p:nvPr/>
        </p:nvSpPr>
        <p:spPr>
          <a:xfrm>
            <a:off x="5577840" y="3794760"/>
            <a:ext cx="1737360" cy="457200"/>
          </a:xfrm>
          <a:prstGeom prst="rect">
            <a:avLst/>
          </a:prstGeom>
          <a:noFill/>
          <a:ln/>
        </p:spPr>
        <p:txBody>
          <a:bodyPr wrap="square" lIns="0" tIns="0" rIns="0" bIns="0" rtlCol="0" anchor="ctr"/>
          <a:lstStyle/>
          <a:p>
            <a:pPr algn="ctr" indent="0" marL="0">
              <a:buNone/>
            </a:pPr>
            <a:r>
              <a:rPr lang="en-US" sz="1600" b="1" dirty="0">
                <a:solidFill>
                  <a:schemeClr val="bg1"/>
                </a:solidFill>
              </a:rPr>
              <a:t>Thank you</a:t>
            </a:r>
            <a:endParaRPr lang="en-US" sz="16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7A5C66"/>
                </a:solidFill>
              </a:defRPr>
            </a:lvl1pPr>
          </a:lstStyle>
          <a:p>
            <a:pPr algn="r"/>
            <a:fld id="{F7021451-1387-4CA6-816F-3879F97B5CBC}" type="slidenum">
              <a:rPr b="0" lang="en-US"/>
              <a:t>5</a:t>
            </a:fld>
            <a:endParaRPr lang="en-US"/>
          </a:p>
        </p:txBody>
      </p:sp>
    </p:spTree>
  </p:cSld>
  <p:clrMapOvr>
    <a:masterClrMapping/>
  </p:clrMapOvr>
</p:sld>
</file>

<file path=ppt/theme/theme1.xml><?xml version="1.0" encoding="utf-8"?>
<a:theme xmlns:a="http://schemas.openxmlformats.org/drawingml/2006/main" name="Rose Trending">
  <a:themeElements>
    <a:clrScheme name="Rose Trending">
      <a:dk1>
        <a:srgbClr val="3A1F2B"/>
      </a:dk1>
      <a:lt1>
        <a:srgbClr val="FFFFFF"/>
      </a:lt1>
      <a:dk2>
        <a:srgbClr val="7A5C66"/>
      </a:dk2>
      <a:lt2>
        <a:srgbClr val="FFF1F3"/>
      </a:lt2>
      <a:accent1>
        <a:srgbClr val="E11D48"/>
      </a:accent1>
      <a:accent2>
        <a:srgbClr val="FDA4AF"/>
      </a:accent2>
      <a:accent3>
        <a:srgbClr val="9F1239"/>
      </a:accent3>
      <a:accent4>
        <a:srgbClr val="FFE4EA"/>
      </a:accent4>
      <a:accent5>
        <a:srgbClr val="FB7185"/>
      </a:accent5>
      <a:accent6>
        <a:srgbClr val="F6CFD8"/>
      </a:accent6>
      <a:hlink>
        <a:srgbClr val="E11D48"/>
      </a:hlink>
      <a:folHlink>
        <a:srgbClr val="9F1239"/>
      </a:folHlink>
    </a:clrScheme>
    <a:fontScheme name="Rose Trending">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Slides>
  <Notes>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vt:i4>
      </vt:variant>
    </vt:vector>
  </HeadingPairs>
  <TitlesOfParts>
    <vt:vector size="8" baseType="lpstr">
      <vt:lpstr>Arial</vt:lpstr>
      <vt:lpstr>Calibri</vt:lpstr>
      <vt:lpstr>Office Theme</vt:lpstr>
      <vt:lpstr>Slide 1</vt:lpstr>
      <vt:lpstr>Slide 2</vt:lpstr>
      <vt:lpstr>Slide 3</vt:lpstr>
      <vt:lpstr>Slide 4</vt:lpstr>
      <vt:lpstr>Slide 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YouTube Trending Videos Analysis using Apache Spark and Cassandra</dc:title>
  <dc:subject>PptxGenJS Presentation</dc:subject>
  <dc:creator>Himani Dalvi</dc:creator>
  <cp:lastModifiedBy>Himani Dalvi</cp:lastModifiedBy>
  <cp:revision>1</cp:revision>
  <dcterms:created xsi:type="dcterms:W3CDTF">2026-10-22T14:33:31Z</dcterms:created>
  <dcterms:modified xsi:type="dcterms:W3CDTF">2026-10-22T14:33:31Z</dcterms:modified>
</cp:coreProperties>
</file>